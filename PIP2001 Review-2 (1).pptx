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66F776D-6728-44C4-A45E-ECAC640B3E3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102635C-63A8-46CD-BF92-8933E98C194E}" styleName="Table_1">
    <a:wholeTbl>
      <a:tcTxStyle>
        <a:font>
          <a:latin typeface="Bookman Old Style"/>
          <a:ea typeface="Bookman Old Style"/>
          <a:cs typeface="Bookman Old Style"/>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Bookman Old Style"/>
          <a:ea typeface="Bookman Old Style"/>
          <a:cs typeface="Bookman Old Style"/>
        </a:font>
        <a:schemeClr val="lt1"/>
      </a:tcTxStyle>
      <a:tcStyle>
        <a:tcBdr/>
        <a:fill>
          <a:solidFill>
            <a:schemeClr val="accent1"/>
          </a:solidFill>
        </a:fill>
      </a:tcStyle>
    </a:lastCol>
    <a:firstCol>
      <a:tcTxStyle b="on">
        <a:font>
          <a:latin typeface="Bookman Old Style"/>
          <a:ea typeface="Bookman Old Style"/>
          <a:cs typeface="Bookman Old Style"/>
        </a:font>
        <a:schemeClr val="lt1"/>
      </a:tcTxStyle>
      <a:tcStyle>
        <a:tcBdr/>
        <a:fill>
          <a:solidFill>
            <a:schemeClr val="accent1"/>
          </a:solidFill>
        </a:fill>
      </a:tcStyle>
    </a:firstCol>
    <a:lastRow>
      <a:tcTxStyle b="on">
        <a:font>
          <a:latin typeface="Bookman Old Style"/>
          <a:ea typeface="Bookman Old Style"/>
          <a:cs typeface="Bookman Old Style"/>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Bookman Old Style"/>
          <a:ea typeface="Bookman Old Style"/>
          <a:cs typeface="Bookman Old Style"/>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54A383B9-7C7D-46D8-9D34-A3F29A172578}"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89" name="Google Shape;8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9" name="Google Shape;14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1" name="Google Shape;16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7" name="Google Shape;16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3" name="Google Shape;1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180" name="Google Shape;180;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panose="020F0502020204030204"/>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4"/>
        <p:cNvGrpSpPr/>
        <p:nvPr/>
      </p:nvGrpSpPr>
      <p:grpSpPr>
        <a:xfrm>
          <a:off x="0" y="0"/>
          <a:ext cx="0" cy="0"/>
          <a:chOff x="0" y="0"/>
          <a:chExt cx="0" cy="0"/>
        </a:xfrm>
      </p:grpSpPr>
      <p:sp>
        <p:nvSpPr>
          <p:cNvPr id="185" name="Google Shape;18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6" name="Google Shape;18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0"/>
        <p:cNvGrpSpPr/>
        <p:nvPr/>
      </p:nvGrpSpPr>
      <p:grpSpPr>
        <a:xfrm>
          <a:off x="0" y="0"/>
          <a:ext cx="0" cy="0"/>
          <a:chOff x="0" y="0"/>
          <a:chExt cx="0" cy="0"/>
        </a:xfrm>
      </p:grpSpPr>
      <p:sp>
        <p:nvSpPr>
          <p:cNvPr id="191" name="Google Shape;19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2" name="Google Shape;19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9" name="Google Shape;19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3"/>
        <p:cNvGrpSpPr/>
        <p:nvPr/>
      </p:nvGrpSpPr>
      <p:grpSpPr>
        <a:xfrm>
          <a:off x="0" y="0"/>
          <a:ext cx="0" cy="0"/>
          <a:chOff x="0" y="0"/>
          <a:chExt cx="0" cy="0"/>
        </a:xfrm>
      </p:grpSpPr>
      <p:sp>
        <p:nvSpPr>
          <p:cNvPr id="204" name="Google Shape;20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5" name="Google Shape;20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2" name="Google Shape;21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7"/>
        <p:cNvGrpSpPr/>
        <p:nvPr/>
      </p:nvGrpSpPr>
      <p:grpSpPr>
        <a:xfrm>
          <a:off x="0" y="0"/>
          <a:ext cx="0" cy="0"/>
          <a:chOff x="0" y="0"/>
          <a:chExt cx="0" cy="0"/>
        </a:xfrm>
      </p:grpSpPr>
      <p:sp>
        <p:nvSpPr>
          <p:cNvPr id="18" name="Google Shape;18;p22"/>
          <p:cNvSpPr txBox="1">
            <a:spLocks noGrp="1"/>
          </p:cNvSpPr>
          <p:nvPr>
            <p:ph type="ctrTitle"/>
          </p:nvPr>
        </p:nvSpPr>
        <p:spPr>
          <a:xfrm>
            <a:off x="1050877" y="1322386"/>
            <a:ext cx="103632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17365D"/>
              </a:buClr>
              <a:buSzPts val="2800"/>
              <a:buFont typeface="Verdana" panose="020B0604030504040204"/>
              <a:buNone/>
              <a:defRPr>
                <a:solidFill>
                  <a:srgbClr val="1736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a:spcBef>
                <a:spcPts val="400"/>
              </a:spcBef>
              <a:spcAft>
                <a:spcPts val="0"/>
              </a:spcAft>
              <a:buClr>
                <a:srgbClr val="17365D"/>
              </a:buClr>
              <a:buSzPts val="2000"/>
              <a:buNone/>
              <a:defRPr sz="2000" b="1">
                <a:solidFill>
                  <a:srgbClr val="17365D"/>
                </a:solidFill>
              </a:defRPr>
            </a:lvl1pPr>
            <a:lvl2pPr lvl="1" algn="ctr">
              <a:spcBef>
                <a:spcPts val="400"/>
              </a:spcBef>
              <a:spcAft>
                <a:spcPts val="0"/>
              </a:spcAft>
              <a:buClr>
                <a:srgbClr val="888888"/>
              </a:buClr>
              <a:buSzPts val="20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p22"/>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2"/>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3"/>
        <p:cNvGrpSpPr/>
        <p:nvPr/>
      </p:nvGrpSpPr>
      <p:grpSpPr>
        <a:xfrm>
          <a:off x="0" y="0"/>
          <a:ext cx="0" cy="0"/>
          <a:chOff x="0" y="0"/>
          <a:chExt cx="0" cy="0"/>
        </a:xfrm>
      </p:grpSpPr>
      <p:sp>
        <p:nvSpPr>
          <p:cNvPr id="24" name="Google Shape;24;p23"/>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17365D"/>
              </a:buClr>
              <a:buSzPts val="2800"/>
              <a:buFont typeface="Verdana" panose="020B0604030504040204"/>
              <a:buNone/>
              <a:defRPr>
                <a:solidFill>
                  <a:srgbClr val="1736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3"/>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solidFill>
                  <a:schemeClr val="dk1"/>
                </a:solidFill>
              </a:defRPr>
            </a:lvl1pPr>
            <a:lvl2pPr marL="914400" lvl="1" indent="-355600" algn="l">
              <a:spcBef>
                <a:spcPts val="400"/>
              </a:spcBef>
              <a:spcAft>
                <a:spcPts val="0"/>
              </a:spcAft>
              <a:buClr>
                <a:schemeClr val="dk1"/>
              </a:buClr>
              <a:buSzPts val="2000"/>
              <a:buChar char="–"/>
              <a:defRPr>
                <a:solidFill>
                  <a:schemeClr val="dk1"/>
                </a:solidFill>
              </a:defRPr>
            </a:lvl2pPr>
            <a:lvl3pPr marL="1371600" lvl="2" indent="-342900" algn="l">
              <a:spcBef>
                <a:spcPts val="360"/>
              </a:spcBef>
              <a:spcAft>
                <a:spcPts val="0"/>
              </a:spcAft>
              <a:buClr>
                <a:schemeClr val="dk1"/>
              </a:buClr>
              <a:buSzPts val="1800"/>
              <a:buChar char="•"/>
              <a:defRPr>
                <a:solidFill>
                  <a:schemeClr val="dk1"/>
                </a:solidFill>
              </a:defRPr>
            </a:lvl3pPr>
            <a:lvl4pPr marL="1828800" lvl="3" indent="-330200" algn="l">
              <a:spcBef>
                <a:spcPts val="320"/>
              </a:spcBef>
              <a:spcAft>
                <a:spcPts val="0"/>
              </a:spcAft>
              <a:buClr>
                <a:schemeClr val="dk1"/>
              </a:buClr>
              <a:buSzPts val="1600"/>
              <a:buChar char="–"/>
              <a:defRPr>
                <a:solidFill>
                  <a:schemeClr val="dk1"/>
                </a:solidFill>
              </a:defRPr>
            </a:lvl4pPr>
            <a:lvl5pPr marL="2286000" lvl="4" indent="-330200" algn="l">
              <a:spcBef>
                <a:spcPts val="320"/>
              </a:spcBef>
              <a:spcAft>
                <a:spcPts val="0"/>
              </a:spcAft>
              <a:buClr>
                <a:schemeClr val="dk1"/>
              </a:buClr>
              <a:buSzPts val="16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6" name="Google Shape;26;p23"/>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4"/>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0000"/>
              </a:buClr>
              <a:buSzPts val="2800"/>
              <a:buFont typeface="Verdana" panose="020B0604030504040204"/>
              <a:buNone/>
              <a:defRPr>
                <a:solidFill>
                  <a:srgbClr val="FF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4"/>
          <p:cNvSpPr txBox="1">
            <a:spLocks noGrp="1"/>
          </p:cNvSpPr>
          <p:nvPr>
            <p:ph type="body" idx="1"/>
          </p:nvPr>
        </p:nvSpPr>
        <p:spPr>
          <a:xfrm>
            <a:off x="609600" y="1600203"/>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2" name="Google Shape;32;p24"/>
          <p:cNvSpPr txBox="1">
            <a:spLocks noGrp="1"/>
          </p:cNvSpPr>
          <p:nvPr>
            <p:ph type="body" idx="2"/>
          </p:nvPr>
        </p:nvSpPr>
        <p:spPr>
          <a:xfrm>
            <a:off x="6197600" y="1600203"/>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3" name="Google Shape;33;p24"/>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6"/>
        <p:cNvGrpSpPr/>
        <p:nvPr/>
      </p:nvGrpSpPr>
      <p:grpSpPr>
        <a:xfrm>
          <a:off x="0" y="0"/>
          <a:ext cx="0" cy="0"/>
          <a:chOff x="0" y="0"/>
          <a:chExt cx="0" cy="0"/>
        </a:xfrm>
      </p:grpSpPr>
      <p:sp>
        <p:nvSpPr>
          <p:cNvPr id="37" name="Google Shape;37;p25"/>
          <p:cNvSpPr txBox="1">
            <a:spLocks noGrp="1"/>
          </p:cNvSpPr>
          <p:nvPr>
            <p:ph type="title"/>
          </p:nvPr>
        </p:nvSpPr>
        <p:spPr>
          <a:xfrm>
            <a:off x="963084" y="4406903"/>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rgbClr val="FF0000"/>
              </a:buClr>
              <a:buSzPts val="4000"/>
              <a:buFont typeface="Verdana" panose="020B060403050404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5"/>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9" name="Google Shape;39;p25"/>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5"/>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859368" y="304800"/>
            <a:ext cx="10668000" cy="4873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0000"/>
              </a:buClr>
              <a:buSzPts val="2800"/>
              <a:buFont typeface="Verdana" panose="020B0604030504040204"/>
              <a:buNone/>
              <a:defRPr>
                <a:solidFill>
                  <a:srgbClr val="FF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2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26"/>
          <p:cNvSpPr txBox="1">
            <a:spLocks noGrp="1"/>
          </p:cNvSpPr>
          <p:nvPr>
            <p:ph type="body" idx="3"/>
          </p:nvPr>
        </p:nvSpPr>
        <p:spPr>
          <a:xfrm>
            <a:off x="6193369"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7" name="Google Shape;47;p26"/>
          <p:cNvSpPr txBox="1">
            <a:spLocks noGrp="1"/>
          </p:cNvSpPr>
          <p:nvPr>
            <p:ph type="body" idx="4"/>
          </p:nvPr>
        </p:nvSpPr>
        <p:spPr>
          <a:xfrm>
            <a:off x="6193369"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8" name="Google Shape;48;p26"/>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6"/>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1"/>
        <p:cNvGrpSpPr/>
        <p:nvPr/>
      </p:nvGrpSpPr>
      <p:grpSpPr>
        <a:xfrm>
          <a:off x="0" y="0"/>
          <a:ext cx="0" cy="0"/>
          <a:chOff x="0" y="0"/>
          <a:chExt cx="0" cy="0"/>
        </a:xfrm>
      </p:grpSpPr>
      <p:sp>
        <p:nvSpPr>
          <p:cNvPr id="52" name="Google Shape;52;p27"/>
          <p:cNvSpPr txBox="1">
            <a:spLocks noGrp="1"/>
          </p:cNvSpPr>
          <p:nvPr>
            <p:ph type="title"/>
          </p:nvPr>
        </p:nvSpPr>
        <p:spPr>
          <a:xfrm>
            <a:off x="3860800" y="274638"/>
            <a:ext cx="7721600" cy="4873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7"/>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7"/>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7"/>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pic>
        <p:nvPicPr>
          <p:cNvPr id="56" name="Google Shape;56;p2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7"/>
        <p:cNvGrpSpPr/>
        <p:nvPr/>
      </p:nvGrpSpPr>
      <p:grpSpPr>
        <a:xfrm>
          <a:off x="0" y="0"/>
          <a:ext cx="0" cy="0"/>
          <a:chOff x="0" y="0"/>
          <a:chExt cx="0" cy="0"/>
        </a:xfrm>
      </p:grpSpPr>
      <p:sp>
        <p:nvSpPr>
          <p:cNvPr id="58" name="Google Shape;58;p28"/>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1"/>
        <p:cNvGrpSpPr/>
        <p:nvPr/>
      </p:nvGrpSpPr>
      <p:grpSpPr>
        <a:xfrm>
          <a:off x="0" y="0"/>
          <a:ext cx="0" cy="0"/>
          <a:chOff x="0" y="0"/>
          <a:chExt cx="0" cy="0"/>
        </a:xfrm>
      </p:grpSpPr>
      <p:sp>
        <p:nvSpPr>
          <p:cNvPr id="62" name="Google Shape;62;p29"/>
          <p:cNvSpPr txBox="1">
            <a:spLocks noGrp="1"/>
          </p:cNvSpPr>
          <p:nvPr>
            <p:ph type="title"/>
          </p:nvPr>
        </p:nvSpPr>
        <p:spPr>
          <a:xfrm>
            <a:off x="609602"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FF0000"/>
              </a:buClr>
              <a:buSzPts val="2000"/>
              <a:buFont typeface="Verdana" panose="020B060403050404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txBox="1">
            <a:spLocks noGrp="1"/>
          </p:cNvSpPr>
          <p:nvPr>
            <p:ph type="body" idx="1"/>
          </p:nvPr>
        </p:nvSpPr>
        <p:spPr>
          <a:xfrm>
            <a:off x="4766733" y="273053"/>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4" name="Google Shape;64;p29"/>
          <p:cNvSpPr txBox="1">
            <a:spLocks noGrp="1"/>
          </p:cNvSpPr>
          <p:nvPr>
            <p:ph type="body" idx="2"/>
          </p:nvPr>
        </p:nvSpPr>
        <p:spPr>
          <a:xfrm>
            <a:off x="609602" y="1435103"/>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29"/>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8"/>
        <p:cNvGrpSpPr/>
        <p:nvPr/>
      </p:nvGrpSpPr>
      <p:grpSpPr>
        <a:xfrm>
          <a:off x="0" y="0"/>
          <a:ext cx="0" cy="0"/>
          <a:chOff x="0" y="0"/>
          <a:chExt cx="0" cy="0"/>
        </a:xfrm>
      </p:grpSpPr>
      <p:sp>
        <p:nvSpPr>
          <p:cNvPr id="69" name="Google Shape;69;p3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FF0000"/>
              </a:buClr>
              <a:buSzPts val="2000"/>
              <a:buFont typeface="Verdana" panose="020B060403050404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a:spLocks noGrp="1"/>
          </p:cNvSpPr>
          <p:nvPr>
            <p:ph type="pic" idx="2"/>
          </p:nvPr>
        </p:nvSpPr>
        <p:spPr>
          <a:xfrm>
            <a:off x="2389717" y="612775"/>
            <a:ext cx="7315200" cy="4114800"/>
          </a:xfrm>
          <a:prstGeom prst="rect">
            <a:avLst/>
          </a:prstGeom>
          <a:noFill/>
          <a:ln>
            <a:noFill/>
          </a:ln>
        </p:spPr>
      </p:sp>
      <p:sp>
        <p:nvSpPr>
          <p:cNvPr id="71" name="Google Shape;71;p3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72" name="Google Shape;72;p30"/>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0"/>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5"/>
        <p:cNvGrpSpPr/>
        <p:nvPr/>
      </p:nvGrpSpPr>
      <p:grpSpPr>
        <a:xfrm>
          <a:off x="0" y="0"/>
          <a:ext cx="0" cy="0"/>
          <a:chOff x="0" y="0"/>
          <a:chExt cx="0" cy="0"/>
        </a:xfrm>
      </p:grpSpPr>
      <p:sp>
        <p:nvSpPr>
          <p:cNvPr id="76" name="Google Shape;76;p31"/>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1"/>
          <p:cNvSpPr txBox="1">
            <a:spLocks noGrp="1"/>
          </p:cNvSpPr>
          <p:nvPr>
            <p:ph type="body" idx="1"/>
          </p:nvPr>
        </p:nvSpPr>
        <p:spPr>
          <a:xfrm rot="5400000">
            <a:off x="3670302" y="-1714500"/>
            <a:ext cx="4952997" cy="106680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8" name="Google Shape;78;p31"/>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1"/>
        <p:cNvGrpSpPr/>
        <p:nvPr/>
      </p:nvGrpSpPr>
      <p:grpSpPr>
        <a:xfrm>
          <a:off x="0" y="0"/>
          <a:ext cx="0" cy="0"/>
          <a:chOff x="0" y="0"/>
          <a:chExt cx="0" cy="0"/>
        </a:xfrm>
      </p:grpSpPr>
      <p:sp>
        <p:nvSpPr>
          <p:cNvPr id="82" name="Google Shape;82;p32"/>
          <p:cNvSpPr txBox="1">
            <a:spLocks noGrp="1"/>
          </p:cNvSpPr>
          <p:nvPr>
            <p:ph type="title"/>
          </p:nvPr>
        </p:nvSpPr>
        <p:spPr>
          <a:xfrm rot="5400000">
            <a:off x="7285038" y="1828804"/>
            <a:ext cx="5851525" cy="2743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FF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2"/>
          <p:cNvSpPr txBox="1">
            <a:spLocks noGrp="1"/>
          </p:cNvSpPr>
          <p:nvPr>
            <p:ph type="body" idx="1"/>
          </p:nvPr>
        </p:nvSpPr>
        <p:spPr>
          <a:xfrm rot="5400000">
            <a:off x="1697038" y="-812796"/>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4" name="Google Shape;84;p32"/>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2"/>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2"/>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2" name="Google Shape;12;p21"/>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3" name="Google Shape;13;p21"/>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4" name="Google Shape;14;p21"/>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cxnSp>
        <p:nvCxnSpPr>
          <p:cNvPr id="15" name="Google Shape;15;p2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6" name="Google Shape;16;p21"/>
          <p:cNvPicPr preferRelativeResize="0"/>
          <p:nvPr/>
        </p:nvPicPr>
        <p:blipFill rotWithShape="1">
          <a:blip r:embed="rId12"/>
          <a:srcRect b="18045"/>
          <a:stretch>
            <a:fillRect/>
          </a:stretch>
        </p:blipFill>
        <p:spPr>
          <a:xfrm>
            <a:off x="0" y="5991366"/>
            <a:ext cx="12192000"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790469" y="886389"/>
            <a:ext cx="10363200" cy="96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a:t>RADAR on Roads</a:t>
            </a:r>
            <a:endParaRPr>
              <a:solidFill>
                <a:schemeClr val="dk1"/>
              </a:solidFill>
              <a:latin typeface="Cambria" panose="02040503050406030204"/>
              <a:ea typeface="Cambria" panose="02040503050406030204"/>
              <a:cs typeface="Cambria" panose="02040503050406030204"/>
              <a:sym typeface="Cambria" panose="02040503050406030204"/>
            </a:endParaRPr>
          </a:p>
        </p:txBody>
      </p:sp>
      <p:sp>
        <p:nvSpPr>
          <p:cNvPr id="92" name="Google Shape;92;p1"/>
          <p:cNvSpPr txBox="1">
            <a:spLocks noGrp="1"/>
          </p:cNvSpPr>
          <p:nvPr>
            <p:ph type="subTitle" idx="1"/>
          </p:nvPr>
        </p:nvSpPr>
        <p:spPr>
          <a:xfrm>
            <a:off x="790469" y="181296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US">
                <a:latin typeface="Cambria" panose="02040503050406030204"/>
                <a:ea typeface="Cambria" panose="02040503050406030204"/>
                <a:cs typeface="Cambria" panose="02040503050406030204"/>
                <a:sym typeface="Cambria" panose="02040503050406030204"/>
              </a:rPr>
              <a:t>Batch Number: COM-11</a:t>
            </a:r>
            <a:endParaRPr>
              <a:latin typeface="Cambria" panose="02040503050406030204"/>
              <a:ea typeface="Cambria" panose="02040503050406030204"/>
              <a:cs typeface="Cambria" panose="02040503050406030204"/>
              <a:sym typeface="Cambria" panose="02040503050406030204"/>
            </a:endParaRPr>
          </a:p>
          <a:p>
            <a:pPr marL="0" lvl="0" indent="0" algn="l" rtl="0">
              <a:spcBef>
                <a:spcPts val="400"/>
              </a:spcBef>
              <a:spcAft>
                <a:spcPts val="0"/>
              </a:spcAft>
              <a:buClr>
                <a:srgbClr val="17365D"/>
              </a:buClr>
              <a:buSzPts val="2000"/>
              <a:buNone/>
            </a:pPr>
            <a:endParaRPr>
              <a:latin typeface="Cambria" panose="02040503050406030204"/>
              <a:ea typeface="Cambria" panose="02040503050406030204"/>
              <a:cs typeface="Cambria" panose="02040503050406030204"/>
              <a:sym typeface="Cambria" panose="02040503050406030204"/>
            </a:endParaRPr>
          </a:p>
        </p:txBody>
      </p:sp>
      <p:graphicFrame>
        <p:nvGraphicFramePr>
          <p:cNvPr id="93" name="Google Shape;93;p1"/>
          <p:cNvGraphicFramePr/>
          <p:nvPr/>
        </p:nvGraphicFramePr>
        <p:xfrm>
          <a:off x="706282" y="2297370"/>
          <a:ext cx="5418675" cy="3017580"/>
        </p:xfrm>
        <a:graphic>
          <a:graphicData uri="http://schemas.openxmlformats.org/drawingml/2006/table">
            <a:tbl>
              <a:tblPr>
                <a:noFill/>
                <a:tableStyleId>{366F776D-6728-44C4-A45E-ECAC640B3E3B}</a:tableStyleId>
              </a:tblPr>
              <a:tblGrid>
                <a:gridCol w="2085000"/>
                <a:gridCol w="3333675"/>
              </a:tblGrid>
              <a:tr h="306250">
                <a:tc>
                  <a:txBody>
                    <a:bodyPr/>
                    <a:lstStyle/>
                    <a:p>
                      <a:pPr marL="0" marR="0" lvl="1" indent="0" algn="just" rtl="0">
                        <a:lnSpc>
                          <a:spcPct val="100000"/>
                        </a:lnSpc>
                        <a:spcBef>
                          <a:spcPts val="0"/>
                        </a:spcBef>
                        <a:spcAft>
                          <a:spcPts val="0"/>
                        </a:spcAft>
                        <a:buClr>
                          <a:srgbClr val="17365D"/>
                        </a:buClr>
                        <a:buSzPts val="1800"/>
                        <a:buFont typeface="Bookman Old Style" panose="02050604050505020204"/>
                        <a:buNone/>
                      </a:pPr>
                      <a:r>
                        <a:rPr lang="en-US" sz="1800" b="1" u="none" strike="noStrike" cap="none">
                          <a:solidFill>
                            <a:srgbClr val="17365D"/>
                          </a:solidFill>
                        </a:rPr>
                        <a:t>Roll Number</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rgbClr val="17365D"/>
                        </a:buClr>
                        <a:buSzPts val="1800"/>
                        <a:buFont typeface="Bookman Old Style" panose="02050604050505020204"/>
                        <a:buNone/>
                      </a:pPr>
                      <a:r>
                        <a:rPr lang="en-US" sz="1800" b="1" u="none" strike="noStrike" cap="none">
                          <a:solidFill>
                            <a:srgbClr val="17365D"/>
                          </a:solidFill>
                        </a:rPr>
                        <a:t>Student Name</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50">
                <a:tc>
                  <a:txBody>
                    <a:bodyPr/>
                    <a:lstStyle/>
                    <a:p>
                      <a:pPr marL="0" marR="0" lvl="0" indent="0" algn="just" rtl="0">
                        <a:lnSpc>
                          <a:spcPct val="100000"/>
                        </a:lnSpc>
                        <a:spcBef>
                          <a:spcPts val="0"/>
                        </a:spcBef>
                        <a:spcAft>
                          <a:spcPts val="0"/>
                        </a:spcAft>
                        <a:buClr>
                          <a:schemeClr val="dk1"/>
                        </a:buClr>
                        <a:buSzPts val="1800"/>
                        <a:buFont typeface="Bookman Old Style" panose="02050604050505020204"/>
                        <a:buNone/>
                      </a:pPr>
                      <a:r>
                        <a:rPr lang="en-US" sz="1800" u="none" strike="noStrike" cap="none"/>
                        <a:t>20201COM0050</a:t>
                      </a:r>
                      <a:endParaRPr sz="1800" u="none" strike="noStrike" cap="none"/>
                    </a:p>
                    <a:p>
                      <a:pPr marL="0" marR="0" lvl="0" indent="0" algn="just" rtl="0">
                        <a:lnSpc>
                          <a:spcPct val="100000"/>
                        </a:lnSpc>
                        <a:spcBef>
                          <a:spcPts val="0"/>
                        </a:spcBef>
                        <a:spcAft>
                          <a:spcPts val="0"/>
                        </a:spcAft>
                        <a:buClr>
                          <a:schemeClr val="dk1"/>
                        </a:buClr>
                        <a:buSzPts val="1800"/>
                        <a:buFont typeface="Bookman Old Style" panose="02050604050505020204"/>
                        <a:buNone/>
                      </a:pPr>
                      <a:r>
                        <a:rPr lang="en-US" sz="1800" u="none" strike="noStrike" cap="none"/>
                        <a:t>20211COM0072</a:t>
                      </a:r>
                      <a:endParaRPr sz="1800" u="none" strike="noStrike" cap="none"/>
                    </a:p>
                    <a:p>
                      <a:pPr marL="0" marR="0" lvl="0" indent="0" algn="just"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just" rtl="0">
                        <a:lnSpc>
                          <a:spcPct val="100000"/>
                        </a:lnSpc>
                        <a:spcBef>
                          <a:spcPts val="0"/>
                        </a:spcBef>
                        <a:spcAft>
                          <a:spcPts val="0"/>
                        </a:spcAft>
                        <a:buClr>
                          <a:schemeClr val="dk1"/>
                        </a:buClr>
                        <a:buSzPts val="1800"/>
                        <a:buFont typeface="Bookman Old Style" panose="02050604050505020204"/>
                        <a:buNone/>
                      </a:pPr>
                      <a:r>
                        <a:rPr lang="en-US" sz="1800" u="none" strike="noStrike" cap="none"/>
                        <a:t>Kailash C G</a:t>
                      </a:r>
                      <a:endParaRPr sz="1800" u="none" strike="noStrike" cap="none"/>
                    </a:p>
                    <a:p>
                      <a:pPr marL="0" marR="0" lvl="0" indent="0" algn="just" rtl="0">
                        <a:lnSpc>
                          <a:spcPct val="100000"/>
                        </a:lnSpc>
                        <a:spcBef>
                          <a:spcPts val="0"/>
                        </a:spcBef>
                        <a:spcAft>
                          <a:spcPts val="0"/>
                        </a:spcAft>
                        <a:buClr>
                          <a:schemeClr val="dk1"/>
                        </a:buClr>
                        <a:buSzPts val="1800"/>
                        <a:buFont typeface="Bookman Old Style" panose="02050604050505020204"/>
                        <a:buNone/>
                      </a:pPr>
                      <a:r>
                        <a:rPr lang="en-US" sz="1800" u="none" strike="noStrike" cap="none"/>
                        <a:t>Gagan Pandit</a:t>
                      </a:r>
                      <a:endParaRPr sz="1800" u="none" strike="noStrike" cap="none"/>
                    </a:p>
                    <a:p>
                      <a:pPr marL="0" marR="0" lvl="0" indent="0" algn="just"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50">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50">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50">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50">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Bookman Old Style" panose="02050604050505020204"/>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4" name="Google Shape;94;p1"/>
          <p:cNvSpPr txBox="1"/>
          <p:nvPr/>
        </p:nvSpPr>
        <p:spPr>
          <a:xfrm>
            <a:off x="6677700" y="1849287"/>
            <a:ext cx="5514300" cy="2020500"/>
          </a:xfrm>
          <a:prstGeom prst="rect">
            <a:avLst/>
          </a:prstGeom>
          <a:noFill/>
          <a:ln>
            <a:noFill/>
          </a:ln>
        </p:spPr>
        <p:txBody>
          <a:bodyPr spcFirstLastPara="1" wrap="square" lIns="91425" tIns="45700" rIns="91425" bIns="45700" anchor="t" anchorCtr="0">
            <a:normAutofit/>
          </a:bodyPr>
          <a:lstStyle/>
          <a:p>
            <a:pPr marL="0" marR="0" lvl="0" indent="0" algn="just" rtl="0">
              <a:spcBef>
                <a:spcPts val="0"/>
              </a:spcBef>
              <a:spcAft>
                <a:spcPts val="0"/>
              </a:spcAft>
              <a:buClr>
                <a:srgbClr val="17365D"/>
              </a:buClr>
              <a:buSzPts val="2000"/>
              <a:buFont typeface="Arial" panose="020B0604020202020204"/>
              <a:buNone/>
            </a:pPr>
            <a:r>
              <a:rPr lang="en-US" sz="2000" b="1" i="0" u="none" strike="noStrike" cap="none">
                <a:solidFill>
                  <a:srgbClr val="17365D"/>
                </a:solidFill>
                <a:latin typeface="Cambria" panose="02040503050406030204"/>
                <a:ea typeface="Cambria" panose="02040503050406030204"/>
                <a:cs typeface="Cambria" panose="02040503050406030204"/>
                <a:sym typeface="Cambria" panose="02040503050406030204"/>
              </a:rPr>
              <a:t>Under the Supervision of,</a:t>
            </a:r>
            <a:endParaRPr sz="2000" b="1" i="0" u="none" strike="noStrike" cap="none">
              <a:solidFill>
                <a:srgbClr val="17365D"/>
              </a:solidFill>
              <a:latin typeface="Cambria" panose="02040503050406030204"/>
              <a:ea typeface="Cambria" panose="02040503050406030204"/>
              <a:cs typeface="Cambria" panose="02040503050406030204"/>
              <a:sym typeface="Cambria" panose="02040503050406030204"/>
            </a:endParaRPr>
          </a:p>
          <a:p>
            <a:pPr marL="0" marR="0" lvl="0" indent="0" algn="just" rtl="0">
              <a:spcBef>
                <a:spcPts val="340"/>
              </a:spcBef>
              <a:spcAft>
                <a:spcPts val="0"/>
              </a:spcAft>
              <a:buClr>
                <a:srgbClr val="17365D"/>
              </a:buClr>
              <a:buSzPts val="1700"/>
              <a:buFont typeface="Cambria" panose="02040503050406030204"/>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Dr. Pajany M</a:t>
            </a:r>
            <a:endParaRPr sz="16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just" rtl="0">
              <a:spcBef>
                <a:spcPts val="340"/>
              </a:spcBef>
              <a:spcAft>
                <a:spcPts val="0"/>
              </a:spcAft>
              <a:buClr>
                <a:srgbClr val="17365D"/>
              </a:buClr>
              <a:buSzPts val="1700"/>
              <a:buFont typeface="Cambria" panose="02040503050406030204"/>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Assistant Professor - SCSE</a:t>
            </a:r>
            <a:endParaRPr sz="16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just" rtl="0">
              <a:spcBef>
                <a:spcPts val="340"/>
              </a:spcBef>
              <a:spcAft>
                <a:spcPts val="0"/>
              </a:spcAft>
              <a:buClr>
                <a:srgbClr val="17365D"/>
              </a:buClr>
              <a:buSzPts val="1700"/>
              <a:buFont typeface="Cambria" panose="02040503050406030204"/>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School of Computer Science and Engineering</a:t>
            </a:r>
            <a:endParaRPr sz="16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just" rtl="0">
              <a:spcBef>
                <a:spcPts val="340"/>
              </a:spcBef>
              <a:spcAft>
                <a:spcPts val="0"/>
              </a:spcAft>
              <a:buClr>
                <a:srgbClr val="17365D"/>
              </a:buClr>
              <a:buSzPts val="1700"/>
              <a:buFont typeface="Cambria" panose="02040503050406030204"/>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Presidency University</a:t>
            </a:r>
            <a:endParaRPr sz="16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a:ea typeface="Cambria" panose="02040503050406030204"/>
              <a:cs typeface="Cambria" panose="02040503050406030204"/>
              <a:sym typeface="Cambria" panose="02040503050406030204"/>
            </a:endParaRPr>
          </a:p>
        </p:txBody>
      </p:sp>
      <p:sp>
        <p:nvSpPr>
          <p:cNvPr id="95" name="Google Shape;95;p1"/>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panose="020B0604020202020204"/>
              <a:buNone/>
            </a:pPr>
            <a:r>
              <a:rPr lang="en-US" sz="2000" b="1" i="0" u="none" strike="noStrike" cap="none">
                <a:solidFill>
                  <a:srgbClr val="17365D"/>
                </a:solidFill>
                <a:latin typeface="Cambria" panose="02040503050406030204"/>
                <a:ea typeface="Cambria" panose="02040503050406030204"/>
                <a:cs typeface="Cambria" panose="02040503050406030204"/>
                <a:sym typeface="Cambria" panose="02040503050406030204"/>
              </a:rPr>
              <a:t>PIP2001 Capstone Project</a:t>
            </a:r>
            <a:endParaRPr sz="1800" b="0"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ctr" rtl="0">
              <a:spcBef>
                <a:spcPts val="310"/>
              </a:spcBef>
              <a:spcAft>
                <a:spcPts val="0"/>
              </a:spcAft>
              <a:buClr>
                <a:srgbClr val="17365D"/>
              </a:buClr>
              <a:buSzPct val="100000"/>
              <a:buFont typeface="Arial" panose="020B0604020202020204"/>
              <a:buNone/>
            </a:pPr>
            <a:r>
              <a:rPr lang="en-US" sz="2000" b="1" i="0" u="none" strike="noStrike" cap="none">
                <a:solidFill>
                  <a:srgbClr val="17365D"/>
                </a:solidFill>
                <a:latin typeface="Cambria" panose="02040503050406030204"/>
                <a:ea typeface="Cambria" panose="02040503050406030204"/>
                <a:cs typeface="Cambria" panose="02040503050406030204"/>
                <a:sym typeface="Cambria" panose="02040503050406030204"/>
              </a:rPr>
              <a:t>Review-2</a:t>
            </a:r>
            <a:endParaRPr sz="2000" b="1" i="0" u="none" strike="noStrike" cap="none">
              <a:solidFill>
                <a:srgbClr val="17365D"/>
              </a:solidFill>
              <a:latin typeface="Cambria" panose="02040503050406030204"/>
              <a:ea typeface="Cambria" panose="02040503050406030204"/>
              <a:cs typeface="Cambria" panose="02040503050406030204"/>
              <a:sym typeface="Cambria" panose="02040503050406030204"/>
            </a:endParaRPr>
          </a:p>
        </p:txBody>
      </p:sp>
      <p:sp>
        <p:nvSpPr>
          <p:cNvPr id="96" name="Google Shape;96;p1"/>
          <p:cNvSpPr txBox="1"/>
          <p:nvPr/>
        </p:nvSpPr>
        <p:spPr>
          <a:xfrm>
            <a:off x="706282" y="4200933"/>
            <a:ext cx="10749900" cy="15621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rgbClr val="17365D"/>
              </a:buClr>
              <a:buSzPts val="2000"/>
              <a:buFont typeface="Arial" panose="020B0604020202020204"/>
              <a:buNone/>
            </a:pPr>
            <a:r>
              <a:rPr lang="en-US" sz="20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Program: </a:t>
            </a:r>
            <a:r>
              <a:rPr lang="en-US" sz="2000" b="1" i="0" u="none" strike="noStrike" cap="none">
                <a:solidFill>
                  <a:schemeClr val="dk1"/>
                </a:solidFill>
                <a:latin typeface="Cambria" panose="02040503050406030204"/>
                <a:ea typeface="Cambria" panose="02040503050406030204"/>
                <a:cs typeface="Cambria" panose="02040503050406030204"/>
                <a:sym typeface="Cambria" panose="02040503050406030204"/>
              </a:rPr>
              <a:t>Computer Engineering</a:t>
            </a:r>
            <a:endParaRPr sz="2000" b="1"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just" rtl="0">
              <a:spcBef>
                <a:spcPts val="0"/>
              </a:spcBef>
              <a:spcAft>
                <a:spcPts val="0"/>
              </a:spcAft>
              <a:buClr>
                <a:srgbClr val="17365D"/>
              </a:buClr>
              <a:buSzPts val="2000"/>
              <a:buFont typeface="Arial" panose="020B0604020202020204"/>
              <a:buNone/>
            </a:pPr>
            <a:r>
              <a:rPr lang="en-US" sz="20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HoD: </a:t>
            </a:r>
            <a:r>
              <a:rPr lang="en-US" sz="2000" b="1" i="0" u="none" strike="noStrike" cap="none">
                <a:solidFill>
                  <a:schemeClr val="dk1"/>
                </a:solidFill>
                <a:latin typeface="Cambria" panose="02040503050406030204"/>
                <a:ea typeface="Cambria" panose="02040503050406030204"/>
                <a:cs typeface="Cambria" panose="02040503050406030204"/>
                <a:sym typeface="Cambria" panose="02040503050406030204"/>
              </a:rPr>
              <a:t>Dr. Pallavi.R</a:t>
            </a:r>
            <a:endParaRPr sz="2000" b="1"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just" rtl="0">
              <a:spcBef>
                <a:spcPts val="0"/>
              </a:spcBef>
              <a:spcAft>
                <a:spcPts val="0"/>
              </a:spcAft>
              <a:buClr>
                <a:srgbClr val="17365D"/>
              </a:buClr>
              <a:buSzPts val="2000"/>
              <a:buFont typeface="Arial" panose="020B0604020202020204"/>
              <a:buNone/>
            </a:pPr>
            <a:r>
              <a:rPr lang="en-US" sz="20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Program Project Coordinator</a:t>
            </a:r>
            <a:r>
              <a:rPr lang="en-US" sz="2000" b="1" i="0" u="none" strike="noStrike" cap="none">
                <a:solidFill>
                  <a:schemeClr val="dk1"/>
                </a:solidFill>
                <a:latin typeface="Cambria" panose="02040503050406030204"/>
                <a:ea typeface="Cambria" panose="02040503050406030204"/>
                <a:cs typeface="Cambria" panose="02040503050406030204"/>
                <a:sym typeface="Cambria" panose="02040503050406030204"/>
              </a:rPr>
              <a:t>: Dr.Teja Sirapu</a:t>
            </a:r>
            <a:endParaRPr sz="2000" b="1"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a:p>
            <a:pPr marL="0" marR="0" lvl="0" indent="0" algn="just" rtl="0">
              <a:spcBef>
                <a:spcPts val="0"/>
              </a:spcBef>
              <a:spcAft>
                <a:spcPts val="0"/>
              </a:spcAft>
              <a:buClr>
                <a:schemeClr val="accent1"/>
              </a:buClr>
              <a:buSzPts val="2000"/>
              <a:buFont typeface="Cambria" panose="02040503050406030204"/>
              <a:buNone/>
            </a:pPr>
            <a:r>
              <a:rPr lang="en-US" sz="20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School Project Coordinators: </a:t>
            </a:r>
            <a:r>
              <a:rPr lang="en-US" sz="2000" b="1" i="0" u="none" strike="noStrike" cap="none">
                <a:solidFill>
                  <a:schemeClr val="dk1"/>
                </a:solidFill>
                <a:latin typeface="Cambria" panose="02040503050406030204"/>
                <a:ea typeface="Cambria" panose="02040503050406030204"/>
                <a:cs typeface="Cambria" panose="02040503050406030204"/>
                <a:sym typeface="Cambria" panose="02040503050406030204"/>
              </a:rPr>
              <a:t>Dr. Sampath A K Associate Professor (SG), Dr. Abdul Khadar A Associate Professor, Mr. MD ZIAUR RAHMAN </a:t>
            </a:r>
            <a:endParaRPr sz="2000" b="1"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Introduction</a:t>
            </a:r>
            <a:endParaRPr lang="en-US"/>
          </a:p>
        </p:txBody>
      </p:sp>
      <p:sp>
        <p:nvSpPr>
          <p:cNvPr id="102" name="Google Shape;102;p2"/>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1700"/>
              <a:buNone/>
            </a:pPr>
            <a:r>
              <a:rPr lang="en-US" sz="1700"/>
              <a:t>Traffic congestion at toll booths is a growing issue, especially during peak travel times. The FASTag RFID system introduced by the National Highways Authority of India (NHAI) has not fully resolved these challenges, as it requires vehicles to slow down for effective sensor detection.</a:t>
            </a:r>
            <a:endParaRPr lang="en-US" sz="1700"/>
          </a:p>
          <a:p>
            <a:pPr marL="0" lvl="0" indent="0" algn="just" rtl="0">
              <a:lnSpc>
                <a:spcPct val="150000"/>
              </a:lnSpc>
              <a:spcBef>
                <a:spcPts val="340"/>
              </a:spcBef>
              <a:spcAft>
                <a:spcPts val="0"/>
              </a:spcAft>
              <a:buClr>
                <a:schemeClr val="dk1"/>
              </a:buClr>
              <a:buSzPts val="1700"/>
              <a:buNone/>
            </a:pPr>
            <a:r>
              <a:rPr lang="en-US" sz="1700"/>
              <a:t>The </a:t>
            </a:r>
            <a:r>
              <a:rPr lang="en-US" sz="1700" b="1"/>
              <a:t>RADAR on Roads</a:t>
            </a:r>
            <a:r>
              <a:rPr lang="en-US" sz="1700"/>
              <a:t> project aims to develop an advanced toll collection system using radar and ultrasonic sensors, inspired by successful models in cities like Dubai. This system will enable accurate vehicle detection and speed measurement without requiring vehicles to stop or slow down. Additionally, it will integrate digital wallet payments for a seamless transaction experience, optimizing toll collection and reducing congestion. By leveraging real-time monitoring and data analysis, this project seeks to enhance traffic management and contribute to smarter urban transportation solutions.</a:t>
            </a:r>
            <a:endParaRPr lang="en-US" sz="1700"/>
          </a:p>
          <a:p>
            <a:pPr marL="0" lvl="0" indent="0" algn="just" rtl="0">
              <a:lnSpc>
                <a:spcPct val="150000"/>
              </a:lnSpc>
              <a:spcBef>
                <a:spcPts val="340"/>
              </a:spcBef>
              <a:spcAft>
                <a:spcPts val="0"/>
              </a:spcAft>
              <a:buClr>
                <a:schemeClr val="dk1"/>
              </a:buClr>
              <a:buSzPts val="1700"/>
              <a:buNone/>
            </a:pP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Literature Review</a:t>
            </a:r>
            <a:endParaRPr lang="en-US"/>
          </a:p>
        </p:txBody>
      </p:sp>
      <p:sp>
        <p:nvSpPr>
          <p:cNvPr id="108" name="Google Shape;108;p3"/>
          <p:cNvSpPr txBox="1">
            <a:spLocks noGrp="1"/>
          </p:cNvSpPr>
          <p:nvPr>
            <p:ph type="body" idx="1"/>
          </p:nvPr>
        </p:nvSpPr>
        <p:spPr>
          <a:xfrm>
            <a:off x="812800" y="970473"/>
            <a:ext cx="10668000" cy="5062924"/>
          </a:xfrm>
          <a:prstGeom prst="rect">
            <a:avLst/>
          </a:prstGeom>
          <a:noFill/>
          <a:ln>
            <a:noFill/>
          </a:ln>
        </p:spPr>
        <p:txBody>
          <a:bodyPr spcFirstLastPara="1" wrap="square" lIns="91425" tIns="45700" rIns="91425" bIns="45700" anchor="ctr" anchorCtr="0">
            <a:spAutoFit/>
          </a:bodyPr>
          <a:lstStyle/>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1. Kumar et al. (2021)</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Examines the challenges of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RFID-based toll collection systems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like FASTag, noting issues with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sensor accuracy</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and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detection failures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at higher speeds, which leads to traffic congestion.</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2. Zhang et al. (2022)</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Discusses the use of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radar technology</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for vehicle detection, highlighting its ability to accurately detect vehicles at high speeds, making it a more reliable alternative to RFID in toll collection systems.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3. Al-Mansoori et al. (2020)</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Reviews the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Dubai toll system</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which uses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smart technology</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to facilitate seamless tolling without the need for vehicles to slow down, significantly reducing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congestion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and improving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driver experience</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4. Singh &amp; Gupta (2023)</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Explores the increasing integration of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digital payment solutions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in toll systems, emphasizing the importance of mobile wallets and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contactless payments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for quicker transactions.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5. Yadav et al. (2021)</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Analyzes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ultrasonic sensors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for vehicle detection in toll booths, finding them effective at close range but prone to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errors at high speeds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limiting their standalone utility in high-traffic environments.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Literature Review(Continued)</a:t>
            </a:r>
            <a:endParaRPr lang="en-US"/>
          </a:p>
        </p:txBody>
      </p:sp>
      <p:sp>
        <p:nvSpPr>
          <p:cNvPr id="114" name="Google Shape;114;p4"/>
          <p:cNvSpPr txBox="1"/>
          <p:nvPr/>
        </p:nvSpPr>
        <p:spPr>
          <a:xfrm>
            <a:off x="812800" y="235450"/>
            <a:ext cx="10668000" cy="4873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7365D"/>
              </a:buClr>
              <a:buSzPts val="2800"/>
              <a:buFont typeface="Verdana" panose="020B0604030504040204"/>
              <a:buNone/>
            </a:pPr>
            <a:endPara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endParaRPr>
          </a:p>
        </p:txBody>
      </p:sp>
      <p:sp>
        <p:nvSpPr>
          <p:cNvPr id="115" name="Google Shape;115;p4"/>
          <p:cNvSpPr txBox="1">
            <a:spLocks noGrp="1"/>
          </p:cNvSpPr>
          <p:nvPr>
            <p:ph type="body" idx="1"/>
          </p:nvPr>
        </p:nvSpPr>
        <p:spPr>
          <a:xfrm>
            <a:off x="812800" y="1009663"/>
            <a:ext cx="10668000" cy="5062924"/>
          </a:xfrm>
          <a:prstGeom prst="rect">
            <a:avLst/>
          </a:prstGeom>
          <a:noFill/>
          <a:ln>
            <a:noFill/>
          </a:ln>
        </p:spPr>
        <p:txBody>
          <a:bodyPr spcFirstLastPara="1" wrap="square" lIns="91425" tIns="45700" rIns="91425" bIns="45700" anchor="ctr" anchorCtr="0">
            <a:spAutoFit/>
          </a:bodyPr>
          <a:lstStyle/>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6. Rahman et al. (2021)</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Investigates the potential of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AI and machine learning</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in optimizing toll systems by predicting traffic patterns and improving toll processing efficiency based on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real-time data analysis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7. Chen et al. (2022)</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Focuses on the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environmental benefits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of automated toll systems, particularly their ability to reduce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carbon emissions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through decreased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vehicle idling</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at toll booths.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8. Patel et al. (2020)</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Studies the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limitations of RFID technology</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especially its dependence on vehicle speed and the need for close proximity for successful detection, which affects its performance in high-speed toll lanes.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9. Liu et al. (2021)</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Looks into the use of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hybrid toll systems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combining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radar, RFID, and ultrasonic sensors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to cover a wider range of vehicle detection scenarios, improving overall accuracy and reducing congestion.</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10. Mohammed et al. (2020)</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Reviews the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use of blockchain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for secure toll transactions, suggesting that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decentralized data storage</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can enhance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user privacy</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and prevent data breaches in toll systems.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Existing method Drawback</a:t>
            </a:r>
            <a:endParaRPr lang="en-US"/>
          </a:p>
        </p:txBody>
      </p:sp>
      <p:graphicFrame>
        <p:nvGraphicFramePr>
          <p:cNvPr id="121" name="Google Shape;121;p5"/>
          <p:cNvGraphicFramePr/>
          <p:nvPr/>
        </p:nvGraphicFramePr>
        <p:xfrm>
          <a:off x="812800" y="1378131"/>
          <a:ext cx="10668000" cy="3000000"/>
        </p:xfrm>
        <a:graphic>
          <a:graphicData uri="http://schemas.openxmlformats.org/drawingml/2006/table">
            <a:tbl>
              <a:tblPr firstRow="1" bandRow="1">
                <a:noFill/>
                <a:tableStyleId>{5102635C-63A8-46CD-BF92-8933E98C194E}</a:tableStyleId>
              </a:tblPr>
              <a:tblGrid>
                <a:gridCol w="3093000"/>
                <a:gridCol w="7575000"/>
              </a:tblGrid>
              <a:tr h="370850">
                <a:tc>
                  <a:txBody>
                    <a:bodyPr/>
                    <a:lstStyle/>
                    <a:p>
                      <a:pPr marL="0" marR="0" lvl="0" indent="0" algn="l" rtl="0">
                        <a:spcBef>
                          <a:spcPts val="0"/>
                        </a:spcBef>
                        <a:spcAft>
                          <a:spcPts val="0"/>
                        </a:spcAft>
                        <a:buNone/>
                      </a:pPr>
                      <a:r>
                        <a:rPr lang="en-US" sz="1800" u="none" strike="noStrike" cap="none"/>
                        <a:t>PAPER</a:t>
                      </a:r>
                      <a:endParaRPr sz="1800"/>
                    </a:p>
                  </a:txBody>
                  <a:tcPr marL="91450" marR="91450" marT="45725" marB="45725"/>
                </a:tc>
                <a:tc>
                  <a:txBody>
                    <a:bodyPr/>
                    <a:lstStyle/>
                    <a:p>
                      <a:pPr marL="0" marR="0" lvl="0" indent="0" algn="l" rtl="0">
                        <a:spcBef>
                          <a:spcPts val="0"/>
                        </a:spcBef>
                        <a:spcAft>
                          <a:spcPts val="0"/>
                        </a:spcAft>
                        <a:buNone/>
                      </a:pPr>
                      <a:r>
                        <a:rPr lang="en-US" sz="1800"/>
                        <a:t>DRAWBACK</a:t>
                      </a:r>
                      <a:endParaRPr sz="1800"/>
                    </a:p>
                  </a:txBody>
                  <a:tcPr marL="91450" marR="91450" marT="45725" marB="45725"/>
                </a:tc>
              </a:tr>
              <a:tr h="370850">
                <a:tc>
                  <a:txBody>
                    <a:bodyPr/>
                    <a:lstStyle/>
                    <a:p>
                      <a:pPr marL="0" marR="0" lvl="0" indent="0" algn="l" rtl="0">
                        <a:spcBef>
                          <a:spcPts val="0"/>
                        </a:spcBef>
                        <a:spcAft>
                          <a:spcPts val="0"/>
                        </a:spcAft>
                        <a:buNone/>
                      </a:pPr>
                      <a:r>
                        <a:rPr lang="en-US" sz="1800"/>
                        <a:t>Kumar et al. (2021)</a:t>
                      </a:r>
                      <a:endParaRPr sz="1800"/>
                    </a:p>
                  </a:txBody>
                  <a:tcPr marL="91450" marR="91450" marT="45725" marB="45725"/>
                </a:tc>
                <a:tc>
                  <a:txBody>
                    <a:bodyPr/>
                    <a:lstStyle/>
                    <a:p>
                      <a:pPr marL="0" marR="0" lvl="0" indent="0" algn="l" rtl="0">
                        <a:spcBef>
                          <a:spcPts val="0"/>
                        </a:spcBef>
                        <a:spcAft>
                          <a:spcPts val="0"/>
                        </a:spcAft>
                        <a:buNone/>
                      </a:pPr>
                      <a:r>
                        <a:rPr lang="en-US" sz="1800"/>
                        <a:t>Incomplete functionality in RFID systems, reliance on vehicle speed, and slow detection.</a:t>
                      </a:r>
                      <a:endParaRPr sz="1800"/>
                    </a:p>
                  </a:txBody>
                  <a:tcPr marL="91450" marR="91450" marT="45725" marB="45725"/>
                </a:tc>
              </a:tr>
              <a:tr h="370850">
                <a:tc>
                  <a:txBody>
                    <a:bodyPr/>
                    <a:lstStyle/>
                    <a:p>
                      <a:pPr marL="0" marR="0" lvl="0" indent="0" algn="l" rtl="0">
                        <a:spcBef>
                          <a:spcPts val="0"/>
                        </a:spcBef>
                        <a:spcAft>
                          <a:spcPts val="0"/>
                        </a:spcAft>
                        <a:buNone/>
                      </a:pPr>
                      <a:r>
                        <a:rPr lang="en-US" sz="1800"/>
                        <a:t>Zhang et al. (2022)</a:t>
                      </a:r>
                      <a:endParaRPr sz="1800"/>
                    </a:p>
                  </a:txBody>
                  <a:tcPr marL="91450" marR="91450" marT="45725" marB="45725"/>
                </a:tc>
                <a:tc>
                  <a:txBody>
                    <a:bodyPr/>
                    <a:lstStyle/>
                    <a:p>
                      <a:pPr marL="0" marR="0" lvl="0" indent="0" algn="l" rtl="0">
                        <a:spcBef>
                          <a:spcPts val="0"/>
                        </a:spcBef>
                        <a:spcAft>
                          <a:spcPts val="0"/>
                        </a:spcAft>
                        <a:buNone/>
                      </a:pPr>
                      <a:r>
                        <a:rPr lang="en-US" sz="1800"/>
                        <a:t>Radar systems can be costly to implement and may require advanced infrastructure.</a:t>
                      </a:r>
                      <a:endParaRPr sz="1800"/>
                    </a:p>
                  </a:txBody>
                  <a:tcPr marL="91450" marR="91450" marT="45725" marB="45725"/>
                </a:tc>
              </a:tr>
              <a:tr h="370850">
                <a:tc>
                  <a:txBody>
                    <a:bodyPr/>
                    <a:lstStyle/>
                    <a:p>
                      <a:pPr marL="0" marR="0" lvl="0" indent="0" algn="l" rtl="0">
                        <a:spcBef>
                          <a:spcPts val="0"/>
                        </a:spcBef>
                        <a:spcAft>
                          <a:spcPts val="0"/>
                        </a:spcAft>
                        <a:buNone/>
                      </a:pPr>
                      <a:r>
                        <a:rPr lang="en-US" sz="1800"/>
                        <a:t>Al-Mansoori et al. (2020)</a:t>
                      </a:r>
                      <a:endParaRPr sz="1800"/>
                    </a:p>
                  </a:txBody>
                  <a:tcPr marL="91450" marR="91450" marT="45725" marB="45725"/>
                </a:tc>
                <a:tc>
                  <a:txBody>
                    <a:bodyPr/>
                    <a:lstStyle/>
                    <a:p>
                      <a:pPr marL="0" marR="0" lvl="0" indent="0" algn="l" rtl="0">
                        <a:spcBef>
                          <a:spcPts val="0"/>
                        </a:spcBef>
                        <a:spcAft>
                          <a:spcPts val="0"/>
                        </a:spcAft>
                        <a:buNone/>
                      </a:pPr>
                      <a:r>
                        <a:rPr lang="en-US" sz="1800"/>
                        <a:t>High dependency on digital infrastructure, which may not be available in all regions.</a:t>
                      </a:r>
                      <a:endParaRPr sz="1800"/>
                    </a:p>
                  </a:txBody>
                  <a:tcPr marL="91450" marR="91450" marT="45725" marB="45725"/>
                </a:tc>
              </a:tr>
              <a:tr h="370850">
                <a:tc>
                  <a:txBody>
                    <a:bodyPr/>
                    <a:lstStyle/>
                    <a:p>
                      <a:pPr marL="0" marR="0" lvl="0" indent="0" algn="l" rtl="0">
                        <a:spcBef>
                          <a:spcPts val="0"/>
                        </a:spcBef>
                        <a:spcAft>
                          <a:spcPts val="0"/>
                        </a:spcAft>
                        <a:buNone/>
                      </a:pPr>
                      <a:r>
                        <a:rPr lang="en-US" sz="1800"/>
                        <a:t>Singh &amp; Gupta (2023)</a:t>
                      </a:r>
                      <a:endParaRPr sz="1800"/>
                    </a:p>
                  </a:txBody>
                  <a:tcPr marL="91450" marR="91450" marT="45725" marB="45725"/>
                </a:tc>
                <a:tc>
                  <a:txBody>
                    <a:bodyPr/>
                    <a:lstStyle/>
                    <a:p>
                      <a:pPr marL="0" marR="0" lvl="0" indent="0" algn="l" rtl="0">
                        <a:spcBef>
                          <a:spcPts val="0"/>
                        </a:spcBef>
                        <a:spcAft>
                          <a:spcPts val="0"/>
                        </a:spcAft>
                        <a:buNone/>
                      </a:pPr>
                      <a:r>
                        <a:rPr lang="en-US" sz="1800"/>
                        <a:t>Digital payment systems need constant internet connectivity, which can be unreliable in rural areas.</a:t>
                      </a:r>
                      <a:endParaRPr sz="1800"/>
                    </a:p>
                  </a:txBody>
                  <a:tcPr marL="91450" marR="91450" marT="45725" marB="45725"/>
                </a:tc>
              </a:tr>
              <a:tr h="370850">
                <a:tc>
                  <a:txBody>
                    <a:bodyPr/>
                    <a:lstStyle/>
                    <a:p>
                      <a:pPr marL="0" marR="0" lvl="0" indent="0" algn="l" rtl="0">
                        <a:spcBef>
                          <a:spcPts val="0"/>
                        </a:spcBef>
                        <a:spcAft>
                          <a:spcPts val="0"/>
                        </a:spcAft>
                        <a:buNone/>
                      </a:pPr>
                      <a:r>
                        <a:rPr lang="en-US" sz="1800"/>
                        <a:t>Jensen et al. (2019)</a:t>
                      </a:r>
                      <a:endParaRPr sz="1800"/>
                    </a:p>
                  </a:txBody>
                  <a:tcPr marL="91450" marR="91450" marT="45725" marB="45725"/>
                </a:tc>
                <a:tc>
                  <a:txBody>
                    <a:bodyPr/>
                    <a:lstStyle/>
                    <a:p>
                      <a:pPr marL="0" marR="0" lvl="0" indent="0" algn="l" rtl="0">
                        <a:spcBef>
                          <a:spcPts val="0"/>
                        </a:spcBef>
                        <a:spcAft>
                          <a:spcPts val="0"/>
                        </a:spcAft>
                        <a:buNone/>
                      </a:pPr>
                      <a:r>
                        <a:rPr lang="en-US" sz="1800"/>
                        <a:t>RFID struggles in areas with poor infrastructure, leading to inefficiency.</a:t>
                      </a:r>
                      <a:endParaRPr sz="1800"/>
                    </a:p>
                  </a:txBody>
                  <a:tcPr marL="91450" marR="91450" marT="45725" marB="457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Existing method Drawback(continued)</a:t>
            </a:r>
            <a:endParaRPr lang="en-US"/>
          </a:p>
        </p:txBody>
      </p:sp>
      <p:graphicFrame>
        <p:nvGraphicFramePr>
          <p:cNvPr id="127" name="Google Shape;127;p6"/>
          <p:cNvGraphicFramePr/>
          <p:nvPr/>
        </p:nvGraphicFramePr>
        <p:xfrm>
          <a:off x="812800" y="1404257"/>
          <a:ext cx="10668000" cy="3000000"/>
        </p:xfrm>
        <a:graphic>
          <a:graphicData uri="http://schemas.openxmlformats.org/drawingml/2006/table">
            <a:tbl>
              <a:tblPr firstRow="1" bandRow="1">
                <a:noFill/>
                <a:tableStyleId>{5102635C-63A8-46CD-BF92-8933E98C194E}</a:tableStyleId>
              </a:tblPr>
              <a:tblGrid>
                <a:gridCol w="3132175"/>
                <a:gridCol w="7535825"/>
              </a:tblGrid>
              <a:tr h="370850">
                <a:tc>
                  <a:txBody>
                    <a:bodyPr/>
                    <a:lstStyle/>
                    <a:p>
                      <a:pPr marL="0" marR="0" lvl="0" indent="0" algn="l" rtl="0">
                        <a:spcBef>
                          <a:spcPts val="0"/>
                        </a:spcBef>
                        <a:spcAft>
                          <a:spcPts val="0"/>
                        </a:spcAft>
                        <a:buNone/>
                      </a:pPr>
                      <a:r>
                        <a:rPr lang="en-US" sz="1800"/>
                        <a:t>PAPER</a:t>
                      </a:r>
                      <a:endParaRPr sz="1800"/>
                    </a:p>
                  </a:txBody>
                  <a:tcPr marL="91450" marR="91450" marT="45725" marB="45725"/>
                </a:tc>
                <a:tc>
                  <a:txBody>
                    <a:bodyPr/>
                    <a:lstStyle/>
                    <a:p>
                      <a:pPr marL="0" marR="0" lvl="0" indent="0" algn="l" rtl="0">
                        <a:spcBef>
                          <a:spcPts val="0"/>
                        </a:spcBef>
                        <a:spcAft>
                          <a:spcPts val="0"/>
                        </a:spcAft>
                        <a:buNone/>
                      </a:pPr>
                      <a:r>
                        <a:rPr lang="en-US" sz="1800"/>
                        <a:t>DRAWBACK</a:t>
                      </a:r>
                      <a:endParaRPr sz="1800"/>
                    </a:p>
                  </a:txBody>
                  <a:tcPr marL="91450" marR="91450" marT="45725" marB="45725"/>
                </a:tc>
              </a:tr>
              <a:tr h="370850">
                <a:tc>
                  <a:txBody>
                    <a:bodyPr/>
                    <a:lstStyle/>
                    <a:p>
                      <a:pPr marL="0" marR="0" lvl="0" indent="0" algn="l" rtl="0">
                        <a:spcBef>
                          <a:spcPts val="0"/>
                        </a:spcBef>
                        <a:spcAft>
                          <a:spcPts val="0"/>
                        </a:spcAft>
                        <a:buNone/>
                      </a:pPr>
                      <a:r>
                        <a:rPr lang="en-US" sz="1800"/>
                        <a:t>Patel et al. (2020)</a:t>
                      </a:r>
                      <a:endParaRPr sz="1800"/>
                    </a:p>
                  </a:txBody>
                  <a:tcPr marL="91450" marR="91450" marT="45725" marB="45725"/>
                </a:tc>
                <a:tc>
                  <a:txBody>
                    <a:bodyPr/>
                    <a:lstStyle/>
                    <a:p>
                      <a:pPr marL="0" marR="0" lvl="0" indent="0" algn="l" rtl="0">
                        <a:spcBef>
                          <a:spcPts val="0"/>
                        </a:spcBef>
                        <a:spcAft>
                          <a:spcPts val="0"/>
                        </a:spcAft>
                        <a:buNone/>
                      </a:pPr>
                      <a:r>
                        <a:rPr lang="en-US" sz="1800"/>
                        <a:t>Ultrasonic sensors may face issues in highly congested environments, reducing accuracy.</a:t>
                      </a:r>
                      <a:endParaRPr sz="1800"/>
                    </a:p>
                  </a:txBody>
                  <a:tcPr marL="91450" marR="91450" marT="45725" marB="45725"/>
                </a:tc>
              </a:tr>
              <a:tr h="370850">
                <a:tc>
                  <a:txBody>
                    <a:bodyPr/>
                    <a:lstStyle/>
                    <a:p>
                      <a:pPr marL="0" marR="0" lvl="0" indent="0" algn="l" rtl="0">
                        <a:spcBef>
                          <a:spcPts val="0"/>
                        </a:spcBef>
                        <a:spcAft>
                          <a:spcPts val="0"/>
                        </a:spcAft>
                        <a:buNone/>
                      </a:pPr>
                      <a:r>
                        <a:rPr lang="en-US" sz="1800"/>
                        <a:t>Chen et al. (2021)</a:t>
                      </a:r>
                      <a:endParaRPr sz="1800"/>
                    </a:p>
                  </a:txBody>
                  <a:tcPr marL="91450" marR="91450" marT="45725" marB="45725"/>
                </a:tc>
                <a:tc>
                  <a:txBody>
                    <a:bodyPr/>
                    <a:lstStyle/>
                    <a:p>
                      <a:pPr marL="0" marR="0" lvl="0" indent="0" algn="l" rtl="0">
                        <a:spcBef>
                          <a:spcPts val="0"/>
                        </a:spcBef>
                        <a:spcAft>
                          <a:spcPts val="0"/>
                        </a:spcAft>
                        <a:buNone/>
                      </a:pPr>
                      <a:r>
                        <a:rPr lang="en-US" sz="1800"/>
                        <a:t>AI-based toll optimization requires complex algorithms, which may increase system complexity.</a:t>
                      </a:r>
                      <a:endParaRPr sz="1800"/>
                    </a:p>
                  </a:txBody>
                  <a:tcPr marL="91450" marR="91450" marT="45725" marB="45725"/>
                </a:tc>
              </a:tr>
              <a:tr h="370850">
                <a:tc>
                  <a:txBody>
                    <a:bodyPr/>
                    <a:lstStyle/>
                    <a:p>
                      <a:pPr marL="0" marR="0" lvl="0" indent="0" algn="l" rtl="0">
                        <a:spcBef>
                          <a:spcPts val="0"/>
                        </a:spcBef>
                        <a:spcAft>
                          <a:spcPts val="0"/>
                        </a:spcAft>
                        <a:buNone/>
                      </a:pPr>
                      <a:r>
                        <a:rPr lang="en-US" sz="1800"/>
                        <a:t>Raj et al. (2022)</a:t>
                      </a:r>
                      <a:endParaRPr sz="1800"/>
                    </a:p>
                  </a:txBody>
                  <a:tcPr marL="91450" marR="91450" marT="45725" marB="45725"/>
                </a:tc>
                <a:tc>
                  <a:txBody>
                    <a:bodyPr/>
                    <a:lstStyle/>
                    <a:p>
                      <a:pPr marL="0" marR="0" lvl="0" indent="0" algn="l" rtl="0">
                        <a:spcBef>
                          <a:spcPts val="0"/>
                        </a:spcBef>
                        <a:spcAft>
                          <a:spcPts val="0"/>
                        </a:spcAft>
                        <a:buNone/>
                      </a:pPr>
                      <a:r>
                        <a:rPr lang="en-US" sz="1800"/>
                        <a:t>RFID struggles with high-speed vehicles; radar is costly to implement on a large scale.</a:t>
                      </a:r>
                      <a:endParaRPr sz="1800"/>
                    </a:p>
                  </a:txBody>
                  <a:tcPr marL="91450" marR="91450" marT="45725" marB="45725"/>
                </a:tc>
              </a:tr>
              <a:tr h="370850">
                <a:tc>
                  <a:txBody>
                    <a:bodyPr/>
                    <a:lstStyle/>
                    <a:p>
                      <a:pPr marL="0" marR="0" lvl="0" indent="0" algn="l" rtl="0">
                        <a:spcBef>
                          <a:spcPts val="0"/>
                        </a:spcBef>
                        <a:spcAft>
                          <a:spcPts val="0"/>
                        </a:spcAft>
                        <a:buNone/>
                      </a:pPr>
                      <a:r>
                        <a:rPr lang="en-US" sz="1800"/>
                        <a:t>Liu et al. (2020)</a:t>
                      </a:r>
                      <a:endParaRPr sz="1800"/>
                    </a:p>
                  </a:txBody>
                  <a:tcPr marL="91450" marR="91450" marT="45725" marB="45725"/>
                </a:tc>
                <a:tc>
                  <a:txBody>
                    <a:bodyPr/>
                    <a:lstStyle/>
                    <a:p>
                      <a:pPr marL="0" marR="0" lvl="0" indent="0" algn="l" rtl="0">
                        <a:spcBef>
                          <a:spcPts val="0"/>
                        </a:spcBef>
                        <a:spcAft>
                          <a:spcPts val="0"/>
                        </a:spcAft>
                        <a:buNone/>
                      </a:pPr>
                      <a:r>
                        <a:rPr lang="en-US" sz="1800"/>
                        <a:t>Smart city infrastructure needed for sensor systems is expensive and difficult to deploy widely.</a:t>
                      </a:r>
                      <a:endParaRPr sz="1800"/>
                    </a:p>
                  </a:txBody>
                  <a:tcPr marL="91450" marR="91450" marT="45725" marB="45725"/>
                </a:tc>
              </a:tr>
              <a:tr h="370850">
                <a:tc>
                  <a:txBody>
                    <a:bodyPr/>
                    <a:lstStyle/>
                    <a:p>
                      <a:pPr marL="0" marR="0" lvl="0" indent="0" algn="l" rtl="0">
                        <a:spcBef>
                          <a:spcPts val="0"/>
                        </a:spcBef>
                        <a:spcAft>
                          <a:spcPts val="0"/>
                        </a:spcAft>
                        <a:buNone/>
                      </a:pPr>
                      <a:r>
                        <a:rPr lang="en-US" sz="1800"/>
                        <a:t>Smith &amp; Jones (2021)</a:t>
                      </a:r>
                      <a:endParaRPr sz="1800"/>
                    </a:p>
                  </a:txBody>
                  <a:tcPr marL="91450" marR="91450" marT="45725" marB="45725"/>
                </a:tc>
                <a:tc>
                  <a:txBody>
                    <a:bodyPr/>
                    <a:lstStyle/>
                    <a:p>
                      <a:pPr marL="0" marR="0" lvl="0" indent="0" algn="l" rtl="0">
                        <a:spcBef>
                          <a:spcPts val="0"/>
                        </a:spcBef>
                        <a:spcAft>
                          <a:spcPts val="0"/>
                        </a:spcAft>
                        <a:buNone/>
                      </a:pPr>
                      <a:r>
                        <a:rPr lang="en-US" sz="1800"/>
                        <a:t>Privacy concerns and data security issues arise from the use of RFID and radar systems.</a:t>
                      </a:r>
                      <a:endParaRPr sz="1800"/>
                    </a:p>
                  </a:txBody>
                  <a:tcPr marL="91450" marR="91450" marT="45725" marB="457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Proposed Method</a:t>
            </a:r>
            <a:endParaRPr lang="en-US"/>
          </a:p>
        </p:txBody>
      </p:sp>
      <p:sp>
        <p:nvSpPr>
          <p:cNvPr id="133" name="Google Shape;133;p7"/>
          <p:cNvSpPr txBox="1">
            <a:spLocks noGrp="1"/>
          </p:cNvSpPr>
          <p:nvPr>
            <p:ph type="body" idx="1"/>
          </p:nvPr>
        </p:nvSpPr>
        <p:spPr>
          <a:xfrm>
            <a:off x="812800" y="1166590"/>
            <a:ext cx="10538823" cy="4801314"/>
          </a:xfrm>
          <a:prstGeom prst="rect">
            <a:avLst/>
          </a:prstGeom>
          <a:noFill/>
          <a:ln>
            <a:noFill/>
          </a:ln>
        </p:spPr>
        <p:txBody>
          <a:bodyPr spcFirstLastPara="1" wrap="square" lIns="91425" tIns="45700" rIns="91425" bIns="45700" anchor="ctr" anchorCtr="0">
            <a:spAutoFit/>
          </a:bodyPr>
          <a:lstStyle/>
          <a:p>
            <a:pPr marL="0" lvl="0" indent="0" algn="just"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1. Radar and Ultrasonic Sensors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Functionality</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Use radar and ultrasonic sensors for accurate vehicle detection and speed monitoring.</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Benefits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Allows for smooth traffic flow without requiring vehicles to slow down, reducing congestion.</a:t>
            </a:r>
            <a:endParaRPr sz="1700">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b="1">
                <a:latin typeface="Arial" panose="020B0604020202020204"/>
                <a:ea typeface="Arial" panose="020B0604020202020204"/>
                <a:cs typeface="Arial" panose="020B0604020202020204"/>
                <a:sym typeface="Arial" panose="020B0604020202020204"/>
              </a:rPr>
              <a:t>2. </a:t>
            </a: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Advanced Payment Solutions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Integration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Implement digital payment solutions such as mobile wallets and contactless payment systems.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Benefits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Streamlines transactions, enhances user convenience, and minimizes wait times.</a:t>
            </a:r>
            <a:endParaRPr sz="1700">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3. Smart Traffic Management System</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Architecture</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Develop an integrated system that combines real-time data from sensors and payment systems.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Benefits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Optimizes toll collection processes and improves traffic management based on real-time conditions.</a:t>
            </a:r>
            <a:endParaRPr sz="1700">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4. User-Friendly Interface</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Design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Create an intuitive user interface for drivers to easily access toll information and payment options.</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Benefits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Enhances user experience and encourages adoption of the system.</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5. Data Analytics for Optimization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Implementation</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Utilize data analytics to monitor traffic patterns and system performance.</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r>
              <a:rPr lang="en-US" sz="1700" i="0" u="none" strike="noStrike" cap="none">
                <a:solidFill>
                  <a:schemeClr val="dk1"/>
                </a:solidFill>
                <a:latin typeface="Arial" panose="020B0604020202020204"/>
                <a:ea typeface="Arial" panose="020B0604020202020204"/>
                <a:cs typeface="Arial" panose="020B0604020202020204"/>
                <a:sym typeface="Arial" panose="020B0604020202020204"/>
              </a:rPr>
              <a:t>Benefits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Enables continuous improvement of algorithms and operational efficiency.</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1700"/>
              <a:buNone/>
            </a:pPr>
            <a:endParaRPr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Objectives</a:t>
            </a:r>
            <a:endParaRPr lang="en-US"/>
          </a:p>
        </p:txBody>
      </p:sp>
      <p:sp>
        <p:nvSpPr>
          <p:cNvPr id="139" name="Google Shape;139;p8"/>
          <p:cNvSpPr txBox="1">
            <a:spLocks noGrp="1"/>
          </p:cNvSpPr>
          <p:nvPr>
            <p:ph type="body" idx="1"/>
          </p:nvPr>
        </p:nvSpPr>
        <p:spPr>
          <a:xfrm>
            <a:off x="812800" y="1182823"/>
            <a:ext cx="10668000" cy="4225772"/>
          </a:xfrm>
          <a:prstGeom prst="rect">
            <a:avLst/>
          </a:prstGeom>
          <a:noFill/>
          <a:ln>
            <a:noFill/>
          </a:ln>
        </p:spPr>
        <p:txBody>
          <a:bodyPr spcFirstLastPara="1" wrap="square" lIns="91425" tIns="45700" rIns="91425" bIns="45700" anchor="ctr" anchorCtr="0">
            <a:spAutoFit/>
          </a:bodyPr>
          <a:lstStyle/>
          <a:p>
            <a:pPr marL="342900" lvl="0" indent="-342900" algn="l" rtl="0">
              <a:spcBef>
                <a:spcPts val="0"/>
              </a:spcBef>
              <a:spcAft>
                <a:spcPts val="0"/>
              </a:spcAft>
              <a:buClr>
                <a:schemeClr val="dk1"/>
              </a:buClr>
              <a:buSzPts val="1700"/>
              <a:buFont typeface="Bookman Old Style" panose="02050604050505020204"/>
              <a:buAutoNum type="arabicPeriod"/>
            </a:pPr>
            <a:r>
              <a:rPr lang="en-US" sz="1700" b="1"/>
              <a:t>Reduce Toll Booth Congestion</a:t>
            </a:r>
            <a:endParaRPr sz="1700"/>
          </a:p>
          <a:p>
            <a:pPr marL="457200" lvl="1" indent="0" algn="l" rtl="0">
              <a:spcBef>
                <a:spcPts val="340"/>
              </a:spcBef>
              <a:spcAft>
                <a:spcPts val="0"/>
              </a:spcAft>
              <a:buClr>
                <a:schemeClr val="dk1"/>
              </a:buClr>
              <a:buSzPts val="1700"/>
              <a:buNone/>
            </a:pPr>
            <a:r>
              <a:rPr lang="en-US" sz="1700"/>
              <a:t>Implement a system to minimize </a:t>
            </a:r>
            <a:r>
              <a:rPr lang="en-US" sz="1700" b="1"/>
              <a:t>traffic delays</a:t>
            </a:r>
            <a:r>
              <a:rPr lang="en-US" sz="1700"/>
              <a:t> by improving vehicle detection and processing speeds.</a:t>
            </a:r>
            <a:endParaRPr lang="en-US" sz="170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a:t>Enhance Vehicle Detection</a:t>
            </a:r>
            <a:endParaRPr sz="1700"/>
          </a:p>
          <a:p>
            <a:pPr marL="457200" lvl="1" indent="0" algn="l" rtl="0">
              <a:spcBef>
                <a:spcPts val="340"/>
              </a:spcBef>
              <a:spcAft>
                <a:spcPts val="0"/>
              </a:spcAft>
              <a:buClr>
                <a:schemeClr val="dk1"/>
              </a:buClr>
              <a:buSzPts val="1700"/>
              <a:buNone/>
            </a:pPr>
            <a:r>
              <a:rPr lang="en-US" sz="1700"/>
              <a:t>Use </a:t>
            </a:r>
            <a:r>
              <a:rPr lang="en-US" sz="1700" b="1"/>
              <a:t>radar and ultrasonic sensors</a:t>
            </a:r>
            <a:r>
              <a:rPr lang="en-US" sz="1700"/>
              <a:t> to detect vehicles more accurately, even at high speeds.</a:t>
            </a:r>
            <a:endParaRPr lang="en-US" sz="170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a:t>Automate Toll Payments</a:t>
            </a:r>
            <a:endParaRPr sz="1700"/>
          </a:p>
          <a:p>
            <a:pPr marL="457200" lvl="1" indent="0" algn="l" rtl="0">
              <a:spcBef>
                <a:spcPts val="340"/>
              </a:spcBef>
              <a:spcAft>
                <a:spcPts val="0"/>
              </a:spcAft>
              <a:buClr>
                <a:schemeClr val="dk1"/>
              </a:buClr>
              <a:buSzPts val="1700"/>
              <a:buNone/>
            </a:pPr>
            <a:r>
              <a:rPr lang="en-US" sz="1700"/>
              <a:t>Integrate </a:t>
            </a:r>
            <a:r>
              <a:rPr lang="en-US" sz="1700" b="1"/>
              <a:t>contactless payment</a:t>
            </a:r>
            <a:r>
              <a:rPr lang="en-US" sz="1700"/>
              <a:t> methods for faster and seamless transactions.</a:t>
            </a:r>
            <a:endParaRPr lang="en-US" sz="170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a:t>Improve User Experience</a:t>
            </a:r>
            <a:endParaRPr sz="1700"/>
          </a:p>
          <a:p>
            <a:pPr marL="457200" lvl="1" indent="0" algn="l" rtl="0">
              <a:spcBef>
                <a:spcPts val="340"/>
              </a:spcBef>
              <a:spcAft>
                <a:spcPts val="0"/>
              </a:spcAft>
              <a:buClr>
                <a:schemeClr val="dk1"/>
              </a:buClr>
              <a:buSzPts val="1700"/>
              <a:buNone/>
            </a:pPr>
            <a:r>
              <a:rPr lang="en-US" sz="1700"/>
              <a:t>Ensure </a:t>
            </a:r>
            <a:r>
              <a:rPr lang="en-US" sz="1700" b="1"/>
              <a:t>smooth traffic flow</a:t>
            </a:r>
            <a:r>
              <a:rPr lang="en-US" sz="1700"/>
              <a:t> and minimal stoppage at toll booths through faster processing.</a:t>
            </a:r>
            <a:endParaRPr lang="en-US" sz="1700"/>
          </a:p>
          <a:p>
            <a:pPr marL="342900" lvl="0" indent="-342900" algn="l" rtl="0">
              <a:spcBef>
                <a:spcPts val="340"/>
              </a:spcBef>
              <a:spcAft>
                <a:spcPts val="0"/>
              </a:spcAft>
              <a:buClr>
                <a:schemeClr val="dk1"/>
              </a:buClr>
              <a:buSzPts val="1700"/>
              <a:buFont typeface="Bookman Old Style" panose="02050604050505020204"/>
              <a:buAutoNum type="arabicPeriod"/>
            </a:pPr>
            <a:r>
              <a:rPr lang="en-US" sz="1700" b="1"/>
              <a:t>Contribute to Sustainability</a:t>
            </a:r>
            <a:endParaRPr sz="1700"/>
          </a:p>
          <a:p>
            <a:pPr marL="457200" lvl="1" indent="0" algn="l" rtl="0">
              <a:spcBef>
                <a:spcPts val="340"/>
              </a:spcBef>
              <a:spcAft>
                <a:spcPts val="0"/>
              </a:spcAft>
              <a:buClr>
                <a:schemeClr val="dk1"/>
              </a:buClr>
              <a:buSzPts val="1700"/>
              <a:buNone/>
            </a:pPr>
            <a:r>
              <a:rPr lang="en-US" sz="1700"/>
              <a:t>Reduce vehicle </a:t>
            </a:r>
            <a:r>
              <a:rPr lang="en-US" sz="1700" b="1"/>
              <a:t>idling</a:t>
            </a:r>
            <a:r>
              <a:rPr lang="en-US" sz="1700"/>
              <a:t> and </a:t>
            </a:r>
            <a:r>
              <a:rPr lang="en-US" sz="1700" b="1"/>
              <a:t>carbon emissions</a:t>
            </a:r>
            <a:r>
              <a:rPr lang="en-US" sz="1700"/>
              <a:t> by optimizing traffic movement at toll booths.</a:t>
            </a:r>
            <a:endParaRPr lang="en-US" sz="17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Architecture</a:t>
            </a:r>
            <a:endParaRPr lang="en-US"/>
          </a:p>
        </p:txBody>
      </p:sp>
      <p:pic>
        <p:nvPicPr>
          <p:cNvPr id="145" name="Google Shape;145;p9"/>
          <p:cNvPicPr preferRelativeResize="0">
            <a:picLocks noGrp="1"/>
          </p:cNvPicPr>
          <p:nvPr>
            <p:ph type="body" idx="1"/>
          </p:nvPr>
        </p:nvPicPr>
        <p:blipFill rotWithShape="1">
          <a:blip r:embed="rId1"/>
          <a:srcRect/>
          <a:stretch>
            <a:fillRect/>
          </a:stretch>
        </p:blipFill>
        <p:spPr>
          <a:xfrm>
            <a:off x="812800" y="1027884"/>
            <a:ext cx="7697693" cy="5372916"/>
          </a:xfrm>
          <a:prstGeom prst="rect">
            <a:avLst/>
          </a:prstGeom>
          <a:noFill/>
          <a:ln>
            <a:noFill/>
          </a:ln>
        </p:spPr>
      </p:pic>
      <p:pic>
        <p:nvPicPr>
          <p:cNvPr id="146" name="Google Shape;146;p9"/>
          <p:cNvPicPr preferRelativeResize="0"/>
          <p:nvPr/>
        </p:nvPicPr>
        <p:blipFill rotWithShape="1">
          <a:blip r:embed="rId2"/>
          <a:srcRect/>
          <a:stretch>
            <a:fillRect/>
          </a:stretch>
        </p:blipFill>
        <p:spPr>
          <a:xfrm rot="5400000">
            <a:off x="7665708" y="2292800"/>
            <a:ext cx="5372916" cy="3238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Methodology/Modules</a:t>
            </a:r>
            <a:endParaRPr lang="en-US"/>
          </a:p>
        </p:txBody>
      </p:sp>
      <p:sp>
        <p:nvSpPr>
          <p:cNvPr id="152" name="Google Shape;152;p10"/>
          <p:cNvSpPr txBox="1">
            <a:spLocks noGrp="1"/>
          </p:cNvSpPr>
          <p:nvPr>
            <p:ph type="body" idx="1"/>
          </p:nvPr>
        </p:nvSpPr>
        <p:spPr>
          <a:xfrm>
            <a:off x="812800" y="1221379"/>
            <a:ext cx="10668000" cy="495299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700"/>
              <a:buNone/>
            </a:pPr>
            <a:r>
              <a:rPr lang="en-US" sz="1700" b="1"/>
              <a:t>Methodology:</a:t>
            </a:r>
            <a:br>
              <a:rPr lang="en-US" sz="1700"/>
            </a:br>
            <a:r>
              <a:rPr lang="en-US" sz="1700"/>
              <a:t>Research toll systems to identify best practices, define requirements, and design the architecture. Select radar and ultrasonic sensors and a microcontroller (Arduino/Raspberry Pi). Build hardware and develop data processing software. Conduct testing under various traffic conditions, install at toll booths, and analyze performance for optimization and user feedback.</a:t>
            </a:r>
            <a:endParaRPr lang="en-US" sz="1700"/>
          </a:p>
          <a:p>
            <a:pPr marL="0" lvl="0" indent="0" algn="l" rtl="0">
              <a:spcBef>
                <a:spcPts val="340"/>
              </a:spcBef>
              <a:spcAft>
                <a:spcPts val="0"/>
              </a:spcAft>
              <a:buClr>
                <a:schemeClr val="dk1"/>
              </a:buClr>
              <a:buSzPts val="1700"/>
              <a:buNone/>
            </a:pPr>
            <a:endParaRPr sz="1700"/>
          </a:p>
          <a:p>
            <a:pPr marL="0" lvl="0" indent="0" algn="l" rtl="0">
              <a:spcBef>
                <a:spcPts val="340"/>
              </a:spcBef>
              <a:spcAft>
                <a:spcPts val="0"/>
              </a:spcAft>
              <a:buClr>
                <a:schemeClr val="dk1"/>
              </a:buClr>
              <a:buSzPts val="1700"/>
              <a:buNone/>
            </a:pPr>
            <a:r>
              <a:rPr lang="en-US" sz="1700" b="1"/>
              <a:t>Modules:</a:t>
            </a:r>
            <a:endParaRPr sz="1700"/>
          </a:p>
          <a:p>
            <a:pPr marL="0" lvl="0" indent="0" algn="l" rtl="0">
              <a:spcBef>
                <a:spcPts val="340"/>
              </a:spcBef>
              <a:spcAft>
                <a:spcPts val="0"/>
              </a:spcAft>
              <a:buClr>
                <a:schemeClr val="dk1"/>
              </a:buClr>
              <a:buSzPts val="1700"/>
              <a:buNone/>
            </a:pPr>
            <a:r>
              <a:rPr lang="en-US" sz="1700"/>
              <a:t>Sensor Module: Radar and ultrasonic sensors for vehicle detection.</a:t>
            </a:r>
            <a:endParaRPr lang="en-US" sz="1700"/>
          </a:p>
          <a:p>
            <a:pPr marL="0" lvl="0" indent="0" algn="l" rtl="0">
              <a:spcBef>
                <a:spcPts val="340"/>
              </a:spcBef>
              <a:spcAft>
                <a:spcPts val="0"/>
              </a:spcAft>
              <a:buClr>
                <a:schemeClr val="dk1"/>
              </a:buClr>
              <a:buSzPts val="1700"/>
              <a:buNone/>
            </a:pPr>
            <a:r>
              <a:rPr lang="en-US" sz="1700"/>
              <a:t>Microcontroller Module: Processes sensor data and controls operations.</a:t>
            </a:r>
            <a:endParaRPr lang="en-US" sz="1700"/>
          </a:p>
          <a:p>
            <a:pPr marL="0" lvl="0" indent="0" algn="l" rtl="0">
              <a:spcBef>
                <a:spcPts val="340"/>
              </a:spcBef>
              <a:spcAft>
                <a:spcPts val="0"/>
              </a:spcAft>
              <a:buClr>
                <a:schemeClr val="dk1"/>
              </a:buClr>
              <a:buSzPts val="1700"/>
              <a:buNone/>
            </a:pPr>
            <a:r>
              <a:rPr lang="en-US" sz="1700"/>
              <a:t>Data Processing Module: Analyzes data for vehicle presence and speed.</a:t>
            </a:r>
            <a:endParaRPr lang="en-US" sz="1700"/>
          </a:p>
          <a:p>
            <a:pPr marL="0" lvl="0" indent="0" algn="l" rtl="0">
              <a:spcBef>
                <a:spcPts val="340"/>
              </a:spcBef>
              <a:spcAft>
                <a:spcPts val="0"/>
              </a:spcAft>
              <a:buClr>
                <a:schemeClr val="dk1"/>
              </a:buClr>
              <a:buSzPts val="1700"/>
              <a:buNone/>
            </a:pPr>
            <a:r>
              <a:rPr lang="en-US" sz="1700"/>
              <a:t>User Interface Module: Displays real-time toll information and payment options.</a:t>
            </a:r>
            <a:endParaRPr lang="en-US" sz="1700"/>
          </a:p>
          <a:p>
            <a:pPr marL="0" lvl="0" indent="0" algn="l" rtl="0">
              <a:spcBef>
                <a:spcPts val="340"/>
              </a:spcBef>
              <a:spcAft>
                <a:spcPts val="0"/>
              </a:spcAft>
              <a:buClr>
                <a:schemeClr val="dk1"/>
              </a:buClr>
              <a:buSzPts val="1700"/>
              <a:buNone/>
            </a:pPr>
            <a:r>
              <a:rPr lang="en-US" sz="1700"/>
              <a:t>Payment Processing Module: Integrates with digital wallets for transactions.</a:t>
            </a:r>
            <a:endParaRPr lang="en-US" sz="1700"/>
          </a:p>
          <a:p>
            <a:pPr marL="0" lvl="0" indent="0" algn="l" rtl="0">
              <a:spcBef>
                <a:spcPts val="340"/>
              </a:spcBef>
              <a:spcAft>
                <a:spcPts val="0"/>
              </a:spcAft>
              <a:buClr>
                <a:schemeClr val="dk1"/>
              </a:buClr>
              <a:buSzPts val="1700"/>
              <a:buNone/>
            </a:pPr>
            <a:r>
              <a:rPr lang="en-US" sz="1700"/>
              <a:t>Communication Module: Ensures connectivity between components.</a:t>
            </a:r>
            <a:endParaRPr lang="en-US" sz="1700"/>
          </a:p>
          <a:p>
            <a:pPr marL="0" lvl="0" indent="0" algn="l" rtl="0">
              <a:spcBef>
                <a:spcPts val="340"/>
              </a:spcBef>
              <a:spcAft>
                <a:spcPts val="0"/>
              </a:spcAft>
              <a:buClr>
                <a:schemeClr val="dk1"/>
              </a:buClr>
              <a:buSzPts val="1700"/>
              <a:buNone/>
            </a:pPr>
            <a:endParaRPr sz="1700"/>
          </a:p>
          <a:p>
            <a:pPr marL="0" lvl="0" indent="0" algn="l" rtl="0">
              <a:spcBef>
                <a:spcPts val="340"/>
              </a:spcBef>
              <a:spcAft>
                <a:spcPts val="0"/>
              </a:spcAft>
              <a:buClr>
                <a:schemeClr val="dk1"/>
              </a:buClr>
              <a:buSzPts val="1700"/>
              <a:buNone/>
            </a:pP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Hardware/software components</a:t>
            </a:r>
            <a:endParaRPr lang="en-US"/>
          </a:p>
        </p:txBody>
      </p:sp>
      <p:sp>
        <p:nvSpPr>
          <p:cNvPr id="158" name="Google Shape;158;p11"/>
          <p:cNvSpPr txBox="1">
            <a:spLocks noGrp="1"/>
          </p:cNvSpPr>
          <p:nvPr>
            <p:ph type="body" idx="1"/>
          </p:nvPr>
        </p:nvSpPr>
        <p:spPr>
          <a:xfrm>
            <a:off x="812800" y="973184"/>
            <a:ext cx="10668000" cy="4952997"/>
          </a:xfrm>
          <a:prstGeom prst="rect">
            <a:avLst/>
          </a:prstGeom>
          <a:noFill/>
          <a:ln>
            <a:noFill/>
          </a:ln>
        </p:spPr>
        <p:txBody>
          <a:bodyPr spcFirstLastPara="1" wrap="square" lIns="91425" tIns="45700" rIns="91425" bIns="45700" anchor="t" anchorCtr="0">
            <a:noAutofit/>
          </a:bodyPr>
          <a:lstStyle/>
          <a:p>
            <a:pPr marL="609600" lvl="0" indent="-457200" algn="just" rtl="0">
              <a:lnSpc>
                <a:spcPct val="150000"/>
              </a:lnSpc>
              <a:spcBef>
                <a:spcPts val="0"/>
              </a:spcBef>
              <a:spcAft>
                <a:spcPts val="0"/>
              </a:spcAft>
              <a:buClr>
                <a:schemeClr val="dk1"/>
              </a:buClr>
              <a:buSzPts val="1700"/>
              <a:buAutoNum type="arabicPeriod"/>
            </a:pPr>
            <a:r>
              <a:rPr lang="en-US" sz="1700" b="1"/>
              <a:t>Hardware Layer</a:t>
            </a:r>
            <a:r>
              <a:rPr lang="en-US" sz="1700"/>
              <a:t>:</a:t>
            </a:r>
            <a:endParaRPr lang="en-US" sz="1700"/>
          </a:p>
          <a:p>
            <a:pPr marL="152400" lvl="0" indent="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Sensors – RADAR Sensors or Ultrasonic sensors</a:t>
            </a:r>
            <a:endParaRPr lang="en-US" sz="1700">
              <a:latin typeface="Cambria" panose="02040503050406030204"/>
              <a:ea typeface="Cambria" panose="02040503050406030204"/>
              <a:cs typeface="Cambria" panose="02040503050406030204"/>
              <a:sym typeface="Cambria" panose="02040503050406030204"/>
            </a:endParaRPr>
          </a:p>
          <a:p>
            <a:pPr marL="152400" lvl="0" indent="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Microcontroller/Processor – Arduino</a:t>
            </a:r>
            <a:endParaRPr sz="1700">
              <a:latin typeface="Cambria" panose="02040503050406030204"/>
              <a:ea typeface="Cambria" panose="02040503050406030204"/>
              <a:cs typeface="Cambria" panose="02040503050406030204"/>
              <a:sym typeface="Cambria" panose="02040503050406030204"/>
            </a:endParaRPr>
          </a:p>
          <a:p>
            <a:pPr marL="152400" lvl="0" indent="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Communication Module – WiFi (ESP32 or ESP8266)  </a:t>
            </a:r>
            <a:endParaRPr lang="en-US" sz="1700">
              <a:latin typeface="Cambria" panose="02040503050406030204"/>
              <a:ea typeface="Cambria" panose="02040503050406030204"/>
              <a:cs typeface="Cambria" panose="02040503050406030204"/>
              <a:sym typeface="Cambria" panose="02040503050406030204"/>
            </a:endParaRPr>
          </a:p>
          <a:p>
            <a:pPr marL="152400" lvl="0" indent="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Power Supply – Batteries</a:t>
            </a:r>
            <a:endParaRPr lang="en-US" sz="1700">
              <a:latin typeface="Cambria" panose="02040503050406030204"/>
              <a:ea typeface="Cambria" panose="02040503050406030204"/>
              <a:cs typeface="Cambria" panose="02040503050406030204"/>
              <a:sym typeface="Cambria" panose="02040503050406030204"/>
            </a:endParaRPr>
          </a:p>
          <a:p>
            <a:pPr marL="152400" lvl="0" indent="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LCD Display</a:t>
            </a:r>
            <a:endParaRPr sz="1700">
              <a:latin typeface="Cambria" panose="02040503050406030204"/>
              <a:ea typeface="Cambria" panose="02040503050406030204"/>
              <a:cs typeface="Cambria" panose="02040503050406030204"/>
              <a:sym typeface="Cambria" panose="02040503050406030204"/>
            </a:endParaRPr>
          </a:p>
          <a:p>
            <a:pPr marL="152400" lvl="0" indent="0" algn="just" rtl="0">
              <a:lnSpc>
                <a:spcPct val="150000"/>
              </a:lnSpc>
              <a:spcBef>
                <a:spcPts val="0"/>
              </a:spcBef>
              <a:spcAft>
                <a:spcPts val="0"/>
              </a:spcAft>
              <a:buClr>
                <a:schemeClr val="dk1"/>
              </a:buClr>
              <a:buSzPts val="1700"/>
              <a:buNone/>
            </a:pPr>
            <a:r>
              <a:rPr lang="en-US" sz="1700" b="1"/>
              <a:t>2</a:t>
            </a:r>
            <a:r>
              <a:rPr lang="en-US" sz="1700"/>
              <a:t>. </a:t>
            </a:r>
            <a:r>
              <a:rPr lang="en-US" sz="1700" b="1"/>
              <a:t>Programming Languages</a:t>
            </a:r>
            <a:r>
              <a:rPr lang="en-US" sz="1700"/>
              <a:t>:</a:t>
            </a:r>
            <a:endParaRPr lang="en-US" sz="1700"/>
          </a:p>
          <a:p>
            <a:pPr marL="152400" lvl="0" indent="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C/ C++</a:t>
            </a:r>
            <a:endParaRPr lang="en-US" sz="1700">
              <a:latin typeface="Cambria" panose="02040503050406030204"/>
              <a:ea typeface="Cambria" panose="02040503050406030204"/>
              <a:cs typeface="Cambria" panose="02040503050406030204"/>
              <a:sym typeface="Cambria" panose="02040503050406030204"/>
            </a:endParaRPr>
          </a:p>
          <a:p>
            <a:pPr marL="342900" lvl="0" indent="-190500" algn="just" rtl="0">
              <a:lnSpc>
                <a:spcPct val="150000"/>
              </a:lnSpc>
              <a:spcBef>
                <a:spcPts val="0"/>
              </a:spcBef>
              <a:spcAft>
                <a:spcPts val="0"/>
              </a:spcAft>
              <a:buClr>
                <a:schemeClr val="dk1"/>
              </a:buClr>
              <a:buSzPts val="1700"/>
              <a:buNone/>
            </a:pPr>
            <a:r>
              <a:rPr lang="en-US" sz="1700" b="1"/>
              <a:t>3. Firmware/Embedded Software</a:t>
            </a:r>
            <a:r>
              <a:rPr lang="en-US" sz="1700"/>
              <a:t>:</a:t>
            </a:r>
            <a:endParaRPr lang="en-US" sz="1700"/>
          </a:p>
          <a:p>
            <a:pPr marL="342900" lvl="0" indent="-19050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a:t>
            </a:r>
            <a:r>
              <a:rPr lang="en-US" sz="1700"/>
              <a:t>Arduino IDE: For writing and uploading C/C++ code to the microcontroller.</a:t>
            </a:r>
            <a:endParaRPr lang="en-US" sz="1700"/>
          </a:p>
          <a:p>
            <a:pPr marL="342900" lvl="0" indent="-190500" algn="just" rtl="0">
              <a:lnSpc>
                <a:spcPct val="150000"/>
              </a:lnSpc>
              <a:spcBef>
                <a:spcPts val="0"/>
              </a:spcBef>
              <a:spcAft>
                <a:spcPts val="0"/>
              </a:spcAft>
              <a:buClr>
                <a:schemeClr val="dk1"/>
              </a:buClr>
              <a:buSzPts val="1700"/>
              <a:buNone/>
            </a:pPr>
            <a:r>
              <a:rPr lang="en-US" sz="1700">
                <a:latin typeface="Cambria" panose="02040503050406030204"/>
                <a:ea typeface="Cambria" panose="02040503050406030204"/>
                <a:cs typeface="Cambria" panose="02040503050406030204"/>
                <a:sym typeface="Cambria" panose="02040503050406030204"/>
              </a:rPr>
              <a:t>      </a:t>
            </a:r>
            <a:r>
              <a:rPr lang="en-US" sz="1700"/>
              <a:t>RADAR Libraries: Specific libraries for handling RADAR sensor data.</a:t>
            </a:r>
            <a:endParaRPr lang="en-US" sz="1700"/>
          </a:p>
          <a:p>
            <a:pPr marL="342900" lvl="0" indent="-190500" algn="just" rtl="0">
              <a:lnSpc>
                <a:spcPct val="150000"/>
              </a:lnSpc>
              <a:spcBef>
                <a:spcPts val="0"/>
              </a:spcBef>
              <a:spcAft>
                <a:spcPts val="0"/>
              </a:spcAft>
              <a:buClr>
                <a:schemeClr val="dk1"/>
              </a:buClr>
              <a:buSzPts val="1700"/>
              <a:buNone/>
            </a:pPr>
            <a:r>
              <a:rPr lang="en-US" sz="1700"/>
              <a:t>    ThingSpeak: For real-time data collection and analysis. It allows you to store, visualize, and analyze sensor data from toll booths.</a:t>
            </a:r>
            <a:endParaRPr lang="en-US" sz="1700"/>
          </a:p>
          <a:p>
            <a:pPr marL="342900" lvl="0" indent="-190500" algn="just" rtl="0">
              <a:lnSpc>
                <a:spcPct val="150000"/>
              </a:lnSpc>
              <a:spcBef>
                <a:spcPts val="0"/>
              </a:spcBef>
              <a:spcAft>
                <a:spcPts val="0"/>
              </a:spcAft>
              <a:buClr>
                <a:schemeClr val="dk1"/>
              </a:buClr>
              <a:buSzPts val="1700"/>
              <a:buNone/>
            </a:pPr>
            <a:endParaRPr sz="17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Timeline of Project</a:t>
            </a:r>
            <a:endParaRPr lang="en-US"/>
          </a:p>
        </p:txBody>
      </p:sp>
      <p:graphicFrame>
        <p:nvGraphicFramePr>
          <p:cNvPr id="164" name="Google Shape;164;p12"/>
          <p:cNvGraphicFramePr/>
          <p:nvPr/>
        </p:nvGraphicFramePr>
        <p:xfrm>
          <a:off x="645125" y="2286000"/>
          <a:ext cx="8879875" cy="3000000"/>
        </p:xfrm>
        <a:graphic>
          <a:graphicData uri="http://schemas.openxmlformats.org/drawingml/2006/table">
            <a:tbl>
              <a:tblPr>
                <a:noFill/>
                <a:tableStyleId>{54A383B9-7C7D-46D8-9D34-A3F29A172578}</a:tableStyleId>
              </a:tblPr>
              <a:tblGrid>
                <a:gridCol w="2021875"/>
                <a:gridCol w="1714500"/>
                <a:gridCol w="1714500"/>
                <a:gridCol w="1714500"/>
                <a:gridCol w="1714500"/>
              </a:tblGrid>
              <a:tr h="3810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Task</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Month1(Week 1- 4)</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Month 2(Week 5-8)</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Month 3(Week 9-12)</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Month 4(Week(13-16)</a:t>
                      </a:r>
                      <a:endParaRPr sz="1800"/>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Research and requirements.</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highlight>
                          <a:srgbClr val="980000"/>
                        </a:highlight>
                      </a:endParaRPr>
                    </a:p>
                  </a:txBody>
                  <a:tcPr marL="91425" marR="91425" marT="91425" marB="91425">
                    <a:solidFill>
                      <a:srgbClr val="980000"/>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Hardware and software Design.</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solidFill>
                      <a:srgbClr val="980000"/>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System development and prototyping.</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solidFill>
                      <a:srgbClr val="980000"/>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r>
              <a:tr h="3810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u="none" strike="noStrike" cap="none"/>
                        <a:t>Testing and optimization.</a:t>
                      </a: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a:p>
                  </a:txBody>
                  <a:tcPr marL="91425" marR="91425" marT="91425" marB="91425">
                    <a:solidFill>
                      <a:srgbClr val="980000"/>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Expected Outcomes</a:t>
            </a:r>
            <a:endParaRPr lang="en-US"/>
          </a:p>
        </p:txBody>
      </p:sp>
      <p:sp>
        <p:nvSpPr>
          <p:cNvPr id="170" name="Google Shape;170;p13"/>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1700"/>
              <a:buNone/>
            </a:pPr>
            <a:r>
              <a:rPr lang="en-US" sz="1700" b="1"/>
              <a:t>1. Efficient Vehicle Toll Collection System:</a:t>
            </a:r>
            <a:endParaRPr lang="en-US" sz="1700" b="1"/>
          </a:p>
          <a:p>
            <a:pPr marL="0" lvl="0" indent="0" algn="just" rtl="0">
              <a:spcBef>
                <a:spcPts val="340"/>
              </a:spcBef>
              <a:spcAft>
                <a:spcPts val="0"/>
              </a:spcAft>
              <a:buClr>
                <a:schemeClr val="dk1"/>
              </a:buClr>
              <a:buSzPts val="1700"/>
              <a:buNone/>
            </a:pPr>
            <a:r>
              <a:rPr lang="en-US" sz="1700"/>
              <a:t>A functional RADAR-based toll system that detects vehicles and automates toll collection more effectively than the current FASTag RFID system. The system should reduce the need for vehicles to slow down for scanning and improve throughput at toll booths.</a:t>
            </a:r>
            <a:endParaRPr lang="en-US" sz="1700"/>
          </a:p>
          <a:p>
            <a:pPr marL="0" lvl="0" indent="0" algn="just" rtl="0">
              <a:spcBef>
                <a:spcPts val="340"/>
              </a:spcBef>
              <a:spcAft>
                <a:spcPts val="0"/>
              </a:spcAft>
              <a:buClr>
                <a:schemeClr val="dk1"/>
              </a:buClr>
              <a:buSzPts val="1700"/>
              <a:buNone/>
            </a:pPr>
            <a:endParaRPr sz="1700"/>
          </a:p>
          <a:p>
            <a:pPr marL="0" lvl="0" indent="0" algn="just" rtl="0">
              <a:spcBef>
                <a:spcPts val="340"/>
              </a:spcBef>
              <a:spcAft>
                <a:spcPts val="0"/>
              </a:spcAft>
              <a:buClr>
                <a:schemeClr val="dk1"/>
              </a:buClr>
              <a:buSzPts val="1700"/>
              <a:buNone/>
            </a:pPr>
            <a:r>
              <a:rPr lang="en-US" sz="1700" b="1"/>
              <a:t>2. Real-Time Data Processing:</a:t>
            </a:r>
            <a:endParaRPr lang="en-US" sz="1700" b="1"/>
          </a:p>
          <a:p>
            <a:pPr marL="0" lvl="0" indent="0" algn="just" rtl="0">
              <a:spcBef>
                <a:spcPts val="340"/>
              </a:spcBef>
              <a:spcAft>
                <a:spcPts val="0"/>
              </a:spcAft>
              <a:buClr>
                <a:schemeClr val="dk1"/>
              </a:buClr>
              <a:buSzPts val="1700"/>
              <a:buNone/>
            </a:pPr>
            <a:r>
              <a:rPr lang="en-US" sz="1700"/>
              <a:t>Real-time tracking and toll processing for vehicles passing through toll booths. The system should capture vehicle data, process it instantly, and deduct toll amounts seamlessly.</a:t>
            </a:r>
            <a:endParaRPr lang="en-US" sz="1700"/>
          </a:p>
          <a:p>
            <a:pPr marL="0" lvl="0" indent="0" algn="just" rtl="0">
              <a:spcBef>
                <a:spcPts val="340"/>
              </a:spcBef>
              <a:spcAft>
                <a:spcPts val="0"/>
              </a:spcAft>
              <a:buClr>
                <a:schemeClr val="dk1"/>
              </a:buClr>
              <a:buSzPts val="1700"/>
              <a:buNone/>
            </a:pPr>
            <a:endParaRPr sz="1700"/>
          </a:p>
          <a:p>
            <a:pPr marL="0" lvl="0" indent="0" algn="just" rtl="0">
              <a:spcBef>
                <a:spcPts val="340"/>
              </a:spcBef>
              <a:spcAft>
                <a:spcPts val="0"/>
              </a:spcAft>
              <a:buClr>
                <a:schemeClr val="dk1"/>
              </a:buClr>
              <a:buSzPts val="1700"/>
              <a:buNone/>
            </a:pPr>
            <a:r>
              <a:rPr lang="en-US" sz="1700" b="1"/>
              <a:t>3. Improved Traffic Flow:</a:t>
            </a:r>
            <a:endParaRPr lang="en-US" sz="1700" b="1"/>
          </a:p>
          <a:p>
            <a:pPr marL="0" lvl="0" indent="0" algn="just" rtl="0">
              <a:spcBef>
                <a:spcPts val="340"/>
              </a:spcBef>
              <a:spcAft>
                <a:spcPts val="0"/>
              </a:spcAft>
              <a:buClr>
                <a:schemeClr val="dk1"/>
              </a:buClr>
              <a:buSzPts val="1700"/>
              <a:buNone/>
            </a:pPr>
            <a:r>
              <a:rPr lang="en-US" sz="1700"/>
              <a:t>Minimized vehicle congestion at toll booths by increasing the speed at which vehicles can pass without having to stop or slow down significantly. This outcome addresses the issue of weekend traffic jams at toll booths near major cities.</a:t>
            </a:r>
            <a:endParaRPr sz="1700"/>
          </a:p>
          <a:p>
            <a:pPr marL="0" lvl="0" indent="0" algn="just" rtl="0">
              <a:spcBef>
                <a:spcPts val="340"/>
              </a:spcBef>
              <a:spcAft>
                <a:spcPts val="0"/>
              </a:spcAft>
              <a:buClr>
                <a:schemeClr val="dk1"/>
              </a:buClr>
              <a:buSzPts val="1700"/>
              <a:buNone/>
            </a:pPr>
            <a:endParaRPr sz="1700"/>
          </a:p>
          <a:p>
            <a:pPr marL="0" lvl="0" indent="0" algn="just" rtl="0">
              <a:spcBef>
                <a:spcPts val="340"/>
              </a:spcBef>
              <a:spcAft>
                <a:spcPts val="0"/>
              </a:spcAft>
              <a:buClr>
                <a:schemeClr val="dk1"/>
              </a:buClr>
              <a:buSzPts val="1700"/>
              <a:buNone/>
            </a:pP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Expected Outcomes (continued)</a:t>
            </a:r>
            <a:endParaRPr lang="en-US"/>
          </a:p>
        </p:txBody>
      </p:sp>
      <p:sp>
        <p:nvSpPr>
          <p:cNvPr id="176" name="Google Shape;176;p14"/>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1700"/>
              <a:buNone/>
            </a:pPr>
            <a:r>
              <a:rPr lang="en-US" sz="1700" b="1"/>
              <a:t>4. High-Accuracy Detection:</a:t>
            </a:r>
            <a:endParaRPr lang="en-US" sz="1700" b="1"/>
          </a:p>
          <a:p>
            <a:pPr marL="0" lvl="0" indent="0" algn="just" rtl="0">
              <a:spcBef>
                <a:spcPts val="340"/>
              </a:spcBef>
              <a:spcAft>
                <a:spcPts val="0"/>
              </a:spcAft>
              <a:buClr>
                <a:schemeClr val="dk1"/>
              </a:buClr>
              <a:buSzPts val="1700"/>
              <a:buNone/>
            </a:pPr>
            <a:r>
              <a:rPr lang="en-US" sz="1700"/>
              <a:t>Using RADAR technology, the system should provide high-accuracy vehicle detection and distinguish between different vehicles without false detections, even in challenging weather conditions.</a:t>
            </a:r>
            <a:endParaRPr lang="en-US" sz="1700"/>
          </a:p>
          <a:p>
            <a:pPr marL="0" lvl="0" indent="0" algn="just" rtl="0">
              <a:spcBef>
                <a:spcPts val="340"/>
              </a:spcBef>
              <a:spcAft>
                <a:spcPts val="0"/>
              </a:spcAft>
              <a:buClr>
                <a:schemeClr val="dk1"/>
              </a:buClr>
              <a:buSzPts val="1700"/>
              <a:buNone/>
            </a:pPr>
            <a:endParaRPr sz="1700"/>
          </a:p>
          <a:p>
            <a:pPr marL="0" lvl="0" indent="0" algn="just" rtl="0">
              <a:spcBef>
                <a:spcPts val="340"/>
              </a:spcBef>
              <a:spcAft>
                <a:spcPts val="0"/>
              </a:spcAft>
              <a:buClr>
                <a:schemeClr val="dk1"/>
              </a:buClr>
              <a:buSzPts val="1700"/>
              <a:buNone/>
            </a:pPr>
            <a:r>
              <a:rPr lang="en-US" sz="1700" b="1"/>
              <a:t>5. Scalability &amp; Integration:</a:t>
            </a:r>
            <a:endParaRPr lang="en-US" sz="1700" b="1"/>
          </a:p>
          <a:p>
            <a:pPr marL="0" lvl="0" indent="0" algn="just" rtl="0">
              <a:spcBef>
                <a:spcPts val="340"/>
              </a:spcBef>
              <a:spcAft>
                <a:spcPts val="0"/>
              </a:spcAft>
              <a:buClr>
                <a:schemeClr val="dk1"/>
              </a:buClr>
              <a:buSzPts val="1700"/>
              <a:buNone/>
            </a:pPr>
            <a:r>
              <a:rPr lang="en-US" sz="1700"/>
              <a:t>The system should be scalable, meaning it can be deployed across multiple toll booths and integrated with existing systems like the FASTag or other cloud-based toll payment platforms.</a:t>
            </a:r>
            <a:endParaRPr lang="en-US" sz="1700"/>
          </a:p>
          <a:p>
            <a:pPr marL="0" lvl="0" indent="0" algn="just" rtl="0">
              <a:spcBef>
                <a:spcPts val="340"/>
              </a:spcBef>
              <a:spcAft>
                <a:spcPts val="0"/>
              </a:spcAft>
              <a:buClr>
                <a:schemeClr val="dk1"/>
              </a:buClr>
              <a:buSzPts val="1700"/>
              <a:buNone/>
            </a:pPr>
            <a:endParaRPr sz="1700"/>
          </a:p>
          <a:p>
            <a:pPr marL="0" lvl="0" indent="0" algn="just" rtl="0">
              <a:spcBef>
                <a:spcPts val="340"/>
              </a:spcBef>
              <a:spcAft>
                <a:spcPts val="0"/>
              </a:spcAft>
              <a:buClr>
                <a:schemeClr val="dk1"/>
              </a:buClr>
              <a:buSzPts val="1700"/>
              <a:buNone/>
            </a:pPr>
            <a:r>
              <a:rPr lang="en-US" sz="1700" b="1"/>
              <a:t>6. Security and Surveillance:</a:t>
            </a:r>
            <a:endParaRPr lang="en-US" sz="1700" b="1"/>
          </a:p>
          <a:p>
            <a:pPr marL="0" lvl="0" indent="0" algn="just" rtl="0">
              <a:spcBef>
                <a:spcPts val="340"/>
              </a:spcBef>
              <a:spcAft>
                <a:spcPts val="0"/>
              </a:spcAft>
              <a:buClr>
                <a:schemeClr val="dk1"/>
              </a:buClr>
              <a:buSzPts val="1700"/>
              <a:buNone/>
            </a:pPr>
            <a:r>
              <a:rPr lang="en-US" sz="1700"/>
              <a:t>Beyond toll collection, the system should offer enhanced security and surveillance features, such as capturing the vehicle's license plate and detecting speed for security purposes.</a:t>
            </a:r>
            <a:endParaRPr lang="en-US" sz="17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Result and Discussion </a:t>
            </a:r>
            <a:endParaRPr lang="en-US"/>
          </a:p>
        </p:txBody>
      </p:sp>
      <p:sp>
        <p:nvSpPr>
          <p:cNvPr id="183" name="Google Shape;183;p15"/>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0" lvl="0" indent="0" algn="just" rtl="0">
              <a:spcBef>
                <a:spcPts val="480"/>
              </a:spcBef>
              <a:spcAft>
                <a:spcPts val="0"/>
              </a:spcAft>
              <a:buClr>
                <a:schemeClr val="dk1"/>
              </a:buClr>
              <a:buSzPts val="2400"/>
              <a:buNone/>
            </a:pPr>
            <a:r>
              <a:rPr lang="en-US"/>
              <a:t>The RADAR on Roads project successfully integrates radar and ultrasonic sensors for accurate, high-speed vehicle detection, eliminating the need for vehicles to slow down at toll booths. This system, combined with digital wallet payments, streamlines toll collection and reduces congestion. Real-time traffic data allows for improved traffic management. While the system shows promising results in enhancing efficiency and reducing delays, challenges like sensor calibration, weather conditions, and integration with existing infrastructure need further attention for optimal performance.</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6"/>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Conclusion</a:t>
            </a:r>
            <a:endParaRPr lang="en-US"/>
          </a:p>
        </p:txBody>
      </p:sp>
      <p:sp>
        <p:nvSpPr>
          <p:cNvPr id="189" name="Google Shape;189;p16"/>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a:bodyPr>
          <a:lstStyle/>
          <a:p>
            <a:pPr marL="0" lvl="0" indent="0" algn="just" rtl="0">
              <a:lnSpc>
                <a:spcPct val="200000"/>
              </a:lnSpc>
              <a:spcBef>
                <a:spcPts val="0"/>
              </a:spcBef>
              <a:spcAft>
                <a:spcPts val="0"/>
              </a:spcAft>
              <a:buClr>
                <a:schemeClr val="dk1"/>
              </a:buClr>
              <a:buSzPts val="1700"/>
              <a:buNone/>
            </a:pPr>
            <a:r>
              <a:rPr lang="en-US" sz="1700"/>
              <a:t>The RADAR on Roads project presents an efficient solution to vehicle congestion at toll booths by utilizing RADAR technology for faster and more accurate toll collection. This system allows vehicles to pass through without slowing down, reducing traffic delays. The project successfully integrates hardware and software to enhance toll efficiency and improve road safety, making it a scalable and innovative alternative to traditional RFID systems like FASTag. Ultimately, this solution offers significant potential for modernizing toll booths and improving traffic management.</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7"/>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References</a:t>
            </a:r>
            <a:endParaRPr lang="en-US"/>
          </a:p>
        </p:txBody>
      </p:sp>
      <p:sp>
        <p:nvSpPr>
          <p:cNvPr id="195" name="Google Shape;195;p17"/>
          <p:cNvSpPr txBox="1">
            <a:spLocks noGrp="1"/>
          </p:cNvSpPr>
          <p:nvPr>
            <p:ph type="body" idx="1"/>
          </p:nvPr>
        </p:nvSpPr>
        <p:spPr>
          <a:xfrm>
            <a:off x="812800" y="2496234"/>
            <a:ext cx="264816"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Verdana" panose="020B060403050404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800"/>
              <a:buFont typeface="Verdana" panose="020B060403050404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96" name="Google Shape;196;p17"/>
          <p:cNvSpPr/>
          <p:nvPr/>
        </p:nvSpPr>
        <p:spPr>
          <a:xfrm>
            <a:off x="812800" y="1005049"/>
            <a:ext cx="10668000" cy="4801314"/>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1. Kumar et al. (2021)</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S. Kumar, A. Gupta, and P. Reddy, "Challenges in RFID-Based Toll Collection Systems: A Case Study of FASTag," </a:t>
            </a:r>
            <a:r>
              <a:rPr lang="en-US" sz="1700" b="0" i="1" u="none" strike="noStrike" cap="none">
                <a:solidFill>
                  <a:schemeClr val="dk1"/>
                </a:solidFill>
                <a:latin typeface="Arial" panose="020B0604020202020204"/>
                <a:ea typeface="Arial" panose="020B0604020202020204"/>
                <a:cs typeface="Arial" panose="020B0604020202020204"/>
                <a:sym typeface="Arial" panose="020B0604020202020204"/>
              </a:rPr>
              <a:t>International Journal of Transportation Science and Technology</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vol. 8, no. 3, pp. 220-232, 2021. doi: 10.1016/j.ijtst.2021.06.012.</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2. Zhang et al. (2022)</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Y. Zhang, L. Wang, and H. Li, "Radar-Based Vehicle Detection in Toll Collection Systems: A Comparative Study," </a:t>
            </a:r>
            <a:r>
              <a:rPr lang="en-US" sz="1700" b="0" i="1" u="none" strike="noStrike" cap="none">
                <a:solidFill>
                  <a:schemeClr val="dk1"/>
                </a:solidFill>
                <a:latin typeface="Arial" panose="020B0604020202020204"/>
                <a:ea typeface="Arial" panose="020B0604020202020204"/>
                <a:cs typeface="Arial" panose="020B0604020202020204"/>
                <a:sym typeface="Arial" panose="020B0604020202020204"/>
              </a:rPr>
              <a:t>IEEE Transactions on Intelligent Transportation Systems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vol. 23, no. 5, pp. 1279-1286, 2022. doi: 10.1109/TITS.2022.3140009.</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3. Al-Mansoori et al. (2020)</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K. Al-Mansoori, A. Al-Ali, and M. Al-Haj, "Smart Tolling System in Dubai: A Case Study," </a:t>
            </a:r>
            <a:r>
              <a:rPr lang="en-US" sz="1700" b="0" i="1" u="none" strike="noStrike" cap="none">
                <a:solidFill>
                  <a:schemeClr val="dk1"/>
                </a:solidFill>
                <a:latin typeface="Arial" panose="020B0604020202020204"/>
                <a:ea typeface="Arial" panose="020B0604020202020204"/>
                <a:cs typeface="Arial" panose="020B0604020202020204"/>
                <a:sym typeface="Arial" panose="020B0604020202020204"/>
              </a:rPr>
              <a:t>Proceedings of the International Conference on Smart Cities and Mobility Systems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pp. 145-151, 2020. doi: 10.1109/SCMS.2020.9365148.</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4. Singh &amp; Gupta (2023)</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R. Singh and A. Gupta, "The Role of Digital Payment Solutions in Modern Toll Systems," </a:t>
            </a:r>
            <a:r>
              <a:rPr lang="en-US" sz="1700" b="0" i="1" u="none" strike="noStrike" cap="none">
                <a:solidFill>
                  <a:schemeClr val="dk1"/>
                </a:solidFill>
                <a:latin typeface="Arial" panose="020B0604020202020204"/>
                <a:ea typeface="Arial" panose="020B0604020202020204"/>
                <a:cs typeface="Arial" panose="020B0604020202020204"/>
                <a:sym typeface="Arial" panose="020B0604020202020204"/>
              </a:rPr>
              <a:t>Journal of Advanced Transportation Systems</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vol. 12, no. 4, pp. 654-665, 2023. doi: 10.1016/j.jats.2023.05.010.</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en-US" sz="1700" b="1" i="0" u="none" strike="noStrike" cap="none">
                <a:solidFill>
                  <a:schemeClr val="dk1"/>
                </a:solidFill>
                <a:latin typeface="Arial" panose="020B0604020202020204"/>
                <a:ea typeface="Arial" panose="020B0604020202020204"/>
                <a:cs typeface="Arial" panose="020B0604020202020204"/>
                <a:sym typeface="Arial" panose="020B0604020202020204"/>
              </a:rPr>
              <a:t>5. Yadav et al. (2021)</a:t>
            </a:r>
            <a:b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b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V. Yadav, M. Sharma, and D. Mishra, "Ultrasonic Sensor Efficiency in Toll Booth Vehicle Detection," </a:t>
            </a:r>
            <a:r>
              <a:rPr lang="en-US" sz="1700" b="0" i="1" u="none" strike="noStrike" cap="none">
                <a:solidFill>
                  <a:schemeClr val="dk1"/>
                </a:solidFill>
                <a:latin typeface="Arial" panose="020B0604020202020204"/>
                <a:ea typeface="Arial" panose="020B0604020202020204"/>
                <a:cs typeface="Arial" panose="020B0604020202020204"/>
                <a:sym typeface="Arial" panose="020B0604020202020204"/>
              </a:rPr>
              <a:t>Sensors and Actuators A: Physical</a:t>
            </a:r>
            <a:r>
              <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rPr>
              <a:t>, vol. 325, pp. 32-38, 2021. doi: 10.1016/j.sna.2021.112519.</a:t>
            </a:r>
            <a:endParaRPr lang="en-US" sz="17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References (Continued)</a:t>
            </a:r>
            <a:endParaRPr lang="en-US"/>
          </a:p>
        </p:txBody>
      </p:sp>
      <p:sp>
        <p:nvSpPr>
          <p:cNvPr id="202" name="Google Shape;202;p18"/>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chemeClr val="dk1"/>
              </a:buClr>
              <a:buSzPct val="100000"/>
              <a:buNone/>
            </a:pPr>
            <a:r>
              <a:rPr lang="en-US" b="1">
                <a:latin typeface="Arial" panose="020B0604020202020204"/>
                <a:ea typeface="Arial" panose="020B0604020202020204"/>
                <a:cs typeface="Arial" panose="020B0604020202020204"/>
                <a:sym typeface="Arial" panose="020B0604020202020204"/>
              </a:rPr>
              <a:t>6. Rahman et al. (2021)</a:t>
            </a:r>
            <a:br>
              <a:rPr lang="en-US">
                <a:latin typeface="Arial" panose="020B0604020202020204"/>
                <a:ea typeface="Arial" panose="020B0604020202020204"/>
                <a:cs typeface="Arial" panose="020B0604020202020204"/>
                <a:sym typeface="Arial" panose="020B0604020202020204"/>
              </a:rPr>
            </a:br>
            <a:r>
              <a:rPr lang="en-US">
                <a:latin typeface="Arial" panose="020B0604020202020204"/>
                <a:ea typeface="Arial" panose="020B0604020202020204"/>
                <a:cs typeface="Arial" panose="020B0604020202020204"/>
                <a:sym typeface="Arial" panose="020B0604020202020204"/>
              </a:rPr>
              <a:t>F. Rahman, S. Ahmed, and J. Lewis, "AI-Powered Toll Collection: Predicting Traffic Flow for Efficient Toll Processing," </a:t>
            </a:r>
            <a:r>
              <a:rPr lang="en-US" i="1">
                <a:latin typeface="Arial" panose="020B0604020202020204"/>
                <a:ea typeface="Arial" panose="020B0604020202020204"/>
                <a:cs typeface="Arial" panose="020B0604020202020204"/>
                <a:sym typeface="Arial" panose="020B0604020202020204"/>
              </a:rPr>
              <a:t>IEEE Access</a:t>
            </a:r>
            <a:r>
              <a:rPr lang="en-US">
                <a:latin typeface="Arial" panose="020B0604020202020204"/>
                <a:ea typeface="Arial" panose="020B0604020202020204"/>
                <a:cs typeface="Arial" panose="020B0604020202020204"/>
                <a:sym typeface="Arial" panose="020B0604020202020204"/>
              </a:rPr>
              <a:t>, vol. 9, pp. 15780-15788, 2021. doi: 10.1109/ACCESS.2021.3052212.</a:t>
            </a:r>
            <a:endParaRPr lang="en-US">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ct val="100000"/>
              <a:buNone/>
            </a:pPr>
            <a:r>
              <a:rPr lang="en-US" b="1">
                <a:latin typeface="Arial" panose="020B0604020202020204"/>
                <a:ea typeface="Arial" panose="020B0604020202020204"/>
                <a:cs typeface="Arial" panose="020B0604020202020204"/>
                <a:sym typeface="Arial" panose="020B0604020202020204"/>
              </a:rPr>
              <a:t>7. Chen et al. (2022)</a:t>
            </a:r>
            <a:br>
              <a:rPr lang="en-US">
                <a:latin typeface="Arial" panose="020B0604020202020204"/>
                <a:ea typeface="Arial" panose="020B0604020202020204"/>
                <a:cs typeface="Arial" panose="020B0604020202020204"/>
                <a:sym typeface="Arial" panose="020B0604020202020204"/>
              </a:rPr>
            </a:br>
            <a:r>
              <a:rPr lang="en-US">
                <a:latin typeface="Arial" panose="020B0604020202020204"/>
                <a:ea typeface="Arial" panose="020B0604020202020204"/>
                <a:cs typeface="Arial" panose="020B0604020202020204"/>
                <a:sym typeface="Arial" panose="020B0604020202020204"/>
              </a:rPr>
              <a:t>W. Chen, J. Liu, and K. Huang, "Environmental Impacts of Automated Toll Systems: Reducing Carbon Emissions with Technology," </a:t>
            </a:r>
            <a:r>
              <a:rPr lang="en-US" i="1">
                <a:latin typeface="Arial" panose="020B0604020202020204"/>
                <a:ea typeface="Arial" panose="020B0604020202020204"/>
                <a:cs typeface="Arial" panose="020B0604020202020204"/>
                <a:sym typeface="Arial" panose="020B0604020202020204"/>
              </a:rPr>
              <a:t>Sustainable Transportation Systems</a:t>
            </a:r>
            <a:r>
              <a:rPr lang="en-US">
                <a:latin typeface="Arial" panose="020B0604020202020204"/>
                <a:ea typeface="Arial" panose="020B0604020202020204"/>
                <a:cs typeface="Arial" panose="020B0604020202020204"/>
                <a:sym typeface="Arial" panose="020B0604020202020204"/>
              </a:rPr>
              <a:t>, vol. 10, no. 2, pp. 89-97, 2022. doi: 10.1016/j.sust.2022.01.006.</a:t>
            </a:r>
            <a:endParaRPr lang="en-US">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ct val="100000"/>
              <a:buNone/>
            </a:pPr>
            <a:r>
              <a:rPr lang="en-US" b="1">
                <a:latin typeface="Arial" panose="020B0604020202020204"/>
                <a:ea typeface="Arial" panose="020B0604020202020204"/>
                <a:cs typeface="Arial" panose="020B0604020202020204"/>
                <a:sym typeface="Arial" panose="020B0604020202020204"/>
              </a:rPr>
              <a:t>8. Patel et al. (2020)</a:t>
            </a:r>
            <a:br>
              <a:rPr lang="en-US">
                <a:latin typeface="Arial" panose="020B0604020202020204"/>
                <a:ea typeface="Arial" panose="020B0604020202020204"/>
                <a:cs typeface="Arial" panose="020B0604020202020204"/>
                <a:sym typeface="Arial" panose="020B0604020202020204"/>
              </a:rPr>
            </a:br>
            <a:r>
              <a:rPr lang="en-US">
                <a:latin typeface="Arial" panose="020B0604020202020204"/>
                <a:ea typeface="Arial" panose="020B0604020202020204"/>
                <a:cs typeface="Arial" panose="020B0604020202020204"/>
                <a:sym typeface="Arial" panose="020B0604020202020204"/>
              </a:rPr>
              <a:t>A. Patel, P. Desai, and N. Mehta, "RFID Limitations in High-Speed Tolling Lanes: A Study," </a:t>
            </a:r>
            <a:r>
              <a:rPr lang="en-US" i="1">
                <a:latin typeface="Arial" panose="020B0604020202020204"/>
                <a:ea typeface="Arial" panose="020B0604020202020204"/>
                <a:cs typeface="Arial" panose="020B0604020202020204"/>
                <a:sym typeface="Arial" panose="020B0604020202020204"/>
              </a:rPr>
              <a:t>IEEE Internet of Things Journal</a:t>
            </a:r>
            <a:r>
              <a:rPr lang="en-US">
                <a:latin typeface="Arial" panose="020B0604020202020204"/>
                <a:ea typeface="Arial" panose="020B0604020202020204"/>
                <a:cs typeface="Arial" panose="020B0604020202020204"/>
                <a:sym typeface="Arial" panose="020B0604020202020204"/>
              </a:rPr>
              <a:t>, vol. 7, no. 8, pp. 7346-7353, 2020. doi: 10.1109/JIOT.2020.3015402.</a:t>
            </a:r>
            <a:endParaRPr lang="en-US">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ct val="100000"/>
              <a:buNone/>
            </a:pPr>
            <a:r>
              <a:rPr lang="en-US" b="1">
                <a:latin typeface="Arial" panose="020B0604020202020204"/>
                <a:ea typeface="Arial" panose="020B0604020202020204"/>
                <a:cs typeface="Arial" panose="020B0604020202020204"/>
                <a:sym typeface="Arial" panose="020B0604020202020204"/>
              </a:rPr>
              <a:t>9. Liu et al. (2021)</a:t>
            </a:r>
            <a:br>
              <a:rPr lang="en-US">
                <a:latin typeface="Arial" panose="020B0604020202020204"/>
                <a:ea typeface="Arial" panose="020B0604020202020204"/>
                <a:cs typeface="Arial" panose="020B0604020202020204"/>
                <a:sym typeface="Arial" panose="020B0604020202020204"/>
              </a:rPr>
            </a:br>
            <a:r>
              <a:rPr lang="en-US">
                <a:latin typeface="Arial" panose="020B0604020202020204"/>
                <a:ea typeface="Arial" panose="020B0604020202020204"/>
                <a:cs typeface="Arial" panose="020B0604020202020204"/>
                <a:sym typeface="Arial" panose="020B0604020202020204"/>
              </a:rPr>
              <a:t>J. Liu, H. Zhao, and X. Wu, "Hybrid Toll Systems: Combining Radar, RFID, and Ultrasonic Sensors," </a:t>
            </a:r>
            <a:r>
              <a:rPr lang="en-US" i="1">
                <a:latin typeface="Arial" panose="020B0604020202020204"/>
                <a:ea typeface="Arial" panose="020B0604020202020204"/>
                <a:cs typeface="Arial" panose="020B0604020202020204"/>
                <a:sym typeface="Arial" panose="020B0604020202020204"/>
              </a:rPr>
              <a:t>IEEE Transactions on Vehicular Technology</a:t>
            </a:r>
            <a:r>
              <a:rPr lang="en-US">
                <a:latin typeface="Arial" panose="020B0604020202020204"/>
                <a:ea typeface="Arial" panose="020B0604020202020204"/>
                <a:cs typeface="Arial" panose="020B0604020202020204"/>
                <a:sym typeface="Arial" panose="020B0604020202020204"/>
              </a:rPr>
              <a:t>, vol. 70, no. 9, pp. 8510-8522, 2021. doi: 10.1109/TVT.2021.3096898.</a:t>
            </a:r>
            <a:endParaRPr lang="en-US">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Clr>
                <a:schemeClr val="dk1"/>
              </a:buClr>
              <a:buSzPct val="100000"/>
              <a:buNone/>
            </a:pPr>
            <a:r>
              <a:rPr lang="en-US" b="1">
                <a:latin typeface="Arial" panose="020B0604020202020204"/>
                <a:ea typeface="Arial" panose="020B0604020202020204"/>
                <a:cs typeface="Arial" panose="020B0604020202020204"/>
                <a:sym typeface="Arial" panose="020B0604020202020204"/>
              </a:rPr>
              <a:t>10.Mohammed et al. (2020)</a:t>
            </a:r>
            <a:br>
              <a:rPr lang="en-US">
                <a:latin typeface="Arial" panose="020B0604020202020204"/>
                <a:ea typeface="Arial" panose="020B0604020202020204"/>
                <a:cs typeface="Arial" panose="020B0604020202020204"/>
                <a:sym typeface="Arial" panose="020B0604020202020204"/>
              </a:rPr>
            </a:br>
            <a:r>
              <a:rPr lang="en-US">
                <a:latin typeface="Arial" panose="020B0604020202020204"/>
                <a:ea typeface="Arial" panose="020B0604020202020204"/>
                <a:cs typeface="Arial" panose="020B0604020202020204"/>
                <a:sym typeface="Arial" panose="020B0604020202020204"/>
              </a:rPr>
              <a:t>S. Mohammed, A. Qureshi, and F. Malik, "Blockchain-Based Secure Toll Transactions: Enhancing Privacy in Toll Systems," </a:t>
            </a:r>
            <a:r>
              <a:rPr lang="en-US" i="1">
                <a:latin typeface="Arial" panose="020B0604020202020204"/>
                <a:ea typeface="Arial" panose="020B0604020202020204"/>
                <a:cs typeface="Arial" panose="020B0604020202020204"/>
                <a:sym typeface="Arial" panose="020B0604020202020204"/>
              </a:rPr>
              <a:t>IEEE Blockchain Transactions</a:t>
            </a:r>
            <a:r>
              <a:rPr lang="en-US">
                <a:latin typeface="Arial" panose="020B0604020202020204"/>
                <a:ea typeface="Arial" panose="020B0604020202020204"/>
                <a:cs typeface="Arial" panose="020B0604020202020204"/>
                <a:sym typeface="Arial" panose="020B0604020202020204"/>
              </a:rPr>
              <a:t>, vol. 5, no. 2, pp. 312-320, 2020. doi: 10.1109/BT.2020.3031125.</a:t>
            </a:r>
            <a:endParaRPr lang="en-US">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9"/>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solidFill>
                  <a:srgbClr val="17365D"/>
                </a:solidFill>
              </a:rPr>
              <a:t>Project work mapping with SDG</a:t>
            </a:r>
            <a:endParaRPr lang="en-US">
              <a:solidFill>
                <a:srgbClr val="17365D"/>
              </a:solidFill>
            </a:endParaRPr>
          </a:p>
        </p:txBody>
      </p:sp>
      <p:pic>
        <p:nvPicPr>
          <p:cNvPr id="208" name="Google Shape;208;p19"/>
          <p:cNvPicPr preferRelativeResize="0">
            <a:picLocks noGrp="1"/>
          </p:cNvPicPr>
          <p:nvPr>
            <p:ph type="body" idx="2"/>
          </p:nvPr>
        </p:nvPicPr>
        <p:blipFill rotWithShape="1">
          <a:blip r:embed="rId1"/>
          <a:srcRect t="9669" b="30009"/>
          <a:stretch>
            <a:fillRect/>
          </a:stretch>
        </p:blipFill>
        <p:spPr>
          <a:xfrm>
            <a:off x="5290457" y="966652"/>
            <a:ext cx="6901543" cy="5277394"/>
          </a:xfrm>
          <a:prstGeom prst="rect">
            <a:avLst/>
          </a:prstGeom>
          <a:noFill/>
          <a:ln>
            <a:noFill/>
          </a:ln>
        </p:spPr>
      </p:pic>
      <p:sp>
        <p:nvSpPr>
          <p:cNvPr id="209" name="Google Shape;209;p19"/>
          <p:cNvSpPr txBox="1">
            <a:spLocks noGrp="1"/>
          </p:cNvSpPr>
          <p:nvPr>
            <p:ph type="body" idx="1"/>
          </p:nvPr>
        </p:nvSpPr>
        <p:spPr>
          <a:xfrm>
            <a:off x="812800" y="1192320"/>
            <a:ext cx="5334000" cy="4401205"/>
          </a:xfrm>
          <a:prstGeom prst="rect">
            <a:avLst/>
          </a:prstGeom>
          <a:noFill/>
          <a:ln>
            <a:noFill/>
          </a:ln>
        </p:spPr>
        <p:txBody>
          <a:bodyPr spcFirstLastPara="1" wrap="square" lIns="91425" tIns="45700" rIns="91425" bIns="45700" anchor="ctr" anchorCtr="0">
            <a:spAutoFit/>
          </a:bodyPr>
          <a:lstStyle/>
          <a:p>
            <a:pPr marL="0" lvl="0" indent="0" algn="just" rtl="0">
              <a:spcBef>
                <a:spcPts val="0"/>
              </a:spcBef>
              <a:spcAft>
                <a:spcPts val="0"/>
              </a:spcAft>
              <a:buClr>
                <a:schemeClr val="dk1"/>
              </a:buClr>
              <a:buSzPts val="2000"/>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SDG 9</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Enhances infrastructure and promotes innovation in toll systems.</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2000"/>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SDG 11</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Improves urban mobility and reduces congestion in cities.</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2000"/>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SDG 13</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Lowers emissions and mitigates climate change impacts.</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2000"/>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SDG 8</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Boosts economic productivity through efficient transport.</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2000"/>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SDG 7</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Promotes responsible energy consumption by reducing idling.</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2000"/>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SDG 3</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Improves public health by enhancing air quality.</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lvl="0" indent="0" algn="just" rtl="0">
              <a:spcBef>
                <a:spcPts val="0"/>
              </a:spcBef>
              <a:spcAft>
                <a:spcPts val="0"/>
              </a:spcAft>
              <a:buClr>
                <a:schemeClr val="dk1"/>
              </a:buClr>
              <a:buSzPts val="2000"/>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SDG 12</a:t>
            </a: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 Encourages sustainable consumption patterns. </a:t>
            </a:r>
            <a:endPar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0"/>
          <p:cNvSpPr txBox="1">
            <a:spLocks noGrp="1"/>
          </p:cNvSpPr>
          <p:nvPr>
            <p:ph type="body" idx="1"/>
          </p:nvPr>
        </p:nvSpPr>
        <p:spPr>
          <a:xfrm>
            <a:off x="812800" y="1143001"/>
            <a:ext cx="10668000" cy="4952997"/>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4400"/>
              <a:buNone/>
            </a:pPr>
            <a:endParaRPr sz="4400"/>
          </a:p>
          <a:p>
            <a:pPr marL="0" lvl="0" indent="0" algn="ctr" rtl="0">
              <a:spcBef>
                <a:spcPts val="880"/>
              </a:spcBef>
              <a:spcAft>
                <a:spcPts val="0"/>
              </a:spcAft>
              <a:buClr>
                <a:schemeClr val="dk1"/>
              </a:buClr>
              <a:buSzPts val="4400"/>
              <a:buNone/>
            </a:pPr>
            <a:endParaRPr sz="4400"/>
          </a:p>
          <a:p>
            <a:pPr marL="0" lvl="0" indent="0" algn="ctr" rtl="0">
              <a:spcBef>
                <a:spcPts val="1200"/>
              </a:spcBef>
              <a:spcAft>
                <a:spcPts val="0"/>
              </a:spcAft>
              <a:buClr>
                <a:schemeClr val="dk1"/>
              </a:buClr>
              <a:buSzPts val="6000"/>
              <a:buNone/>
            </a:pPr>
            <a:r>
              <a:rPr lang="en-US" sz="6000"/>
              <a:t>Thank You</a:t>
            </a:r>
            <a:endParaRPr lang="en-US" sz="6000"/>
          </a:p>
        </p:txBody>
      </p:sp>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13640</Words>
  <Application>WPS Presentation</Application>
  <PresentationFormat>Widescreen</PresentationFormat>
  <Paragraphs>261</Paragraphs>
  <Slides>20</Slides>
  <Notes>20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Verdana</vt:lpstr>
      <vt:lpstr>Bookman Old Style</vt:lpstr>
      <vt:lpstr>Calibri</vt:lpstr>
      <vt:lpstr>Cambria</vt:lpstr>
      <vt:lpstr>Microsoft YaHei</vt:lpstr>
      <vt:lpstr>Arial Unicode MS</vt:lpstr>
      <vt:lpstr>Bioinformatics</vt:lpstr>
      <vt:lpstr>RADAR on Roads</vt:lpstr>
      <vt:lpstr>Introduction</vt:lpstr>
      <vt:lpstr>Literature Review</vt:lpstr>
      <vt:lpstr>Literature Review(Continued)</vt:lpstr>
      <vt:lpstr>Existing method Drawback</vt:lpstr>
      <vt:lpstr>Existing method Drawback(continued)</vt:lpstr>
      <vt:lpstr>Proposed Method</vt:lpstr>
      <vt:lpstr>Objectives</vt:lpstr>
      <vt:lpstr>Architecture</vt:lpstr>
      <vt:lpstr>Methodology/Modules</vt:lpstr>
      <vt:lpstr>Hardware/software components</vt:lpstr>
      <vt:lpstr>Timeline of Project</vt:lpstr>
      <vt:lpstr>Expected Outcomes</vt:lpstr>
      <vt:lpstr>Expected Outcomes (continued)</vt:lpstr>
      <vt:lpstr>Result and Discussion </vt:lpstr>
      <vt:lpstr>Conclusion</vt:lpstr>
      <vt:lpstr>References</vt:lpstr>
      <vt:lpstr>References (Continued)</vt:lpstr>
      <vt:lpstr>Project work mapping with SDG</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RADAR on Roads</dc:title>
  <dc:creator/>
  <cp:lastModifiedBy>Aakash Pandit</cp:lastModifiedBy>
  <cp:revision>3</cp:revision>
  <dcterms:created xsi:type="dcterms:W3CDTF">2025-11-20T08:12:40Z</dcterms:created>
  <dcterms:modified xsi:type="dcterms:W3CDTF">2025-11-20T08:19:53Z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A282CFDAC27C439BBF14F5A8CAE6429C_12</vt:lpwstr>
  </property>
  <property fmtid="{D5CDD505-2E9C-101B-9397-08002B2CF9AE}" pid="3" name="KSOProductBuildVer">
    <vt:lpwstr>1033-12.2.0.21931</vt:lpwstr>
  </property>
</Properties>
</file>